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</p:sldMasterIdLst>
  <p:notesMasterIdLst>
    <p:notesMasterId r:id="rId14"/>
  </p:notesMasterIdLst>
  <p:sldIdLst>
    <p:sldId id="258" r:id="rId2"/>
    <p:sldId id="475" r:id="rId3"/>
    <p:sldId id="477" r:id="rId4"/>
    <p:sldId id="456" r:id="rId5"/>
    <p:sldId id="485" r:id="rId6"/>
    <p:sldId id="478" r:id="rId7"/>
    <p:sldId id="479" r:id="rId8"/>
    <p:sldId id="480" r:id="rId9"/>
    <p:sldId id="481" r:id="rId10"/>
    <p:sldId id="482" r:id="rId11"/>
    <p:sldId id="483" r:id="rId12"/>
    <p:sldId id="486" r:id="rId13"/>
  </p:sldIdLst>
  <p:sldSz cx="12192000" cy="6858000"/>
  <p:notesSz cx="6797675" cy="99250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5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5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5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5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5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5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5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5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5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00"/>
    <a:srgbClr val="00FFFF"/>
    <a:srgbClr val="FFFF00"/>
    <a:srgbClr val="FF7C80"/>
    <a:srgbClr val="EAEAEA"/>
    <a:srgbClr val="FF9933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 autoAdjust="0"/>
    <p:restoredTop sz="95950" autoAdjust="0"/>
  </p:normalViewPr>
  <p:slideViewPr>
    <p:cSldViewPr>
      <p:cViewPr varScale="1">
        <p:scale>
          <a:sx n="102" d="100"/>
          <a:sy n="102" d="100"/>
        </p:scale>
        <p:origin x="816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36004" cy="36004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42626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presen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201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success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2">
            <a:extLst>
              <a:ext uri="{FF2B5EF4-FFF2-40B4-BE49-F238E27FC236}">
                <a16:creationId xmlns:a16="http://schemas.microsoft.com/office/drawing/2014/main" id="{956E1681-BABD-4AAF-8566-38A4163EF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0" y="409705"/>
            <a:ext cx="8200699" cy="463011"/>
          </a:xfrm>
          <a:prstGeom prst="rect">
            <a:avLst/>
          </a:prstGeom>
        </p:spPr>
        <p:txBody>
          <a:bodyPr/>
          <a:lstStyle>
            <a:lvl1pPr algn="l" defTabSz="5511800" rtl="0" eaLnBrk="0" fontAlgn="base" hangingPunct="0">
              <a:spcBef>
                <a:spcPct val="0"/>
              </a:spcBef>
              <a:spcAft>
                <a:spcPct val="0"/>
              </a:spcAft>
              <a:defRPr lang="en-US" sz="2800" i="1" kern="0" cap="small" baseline="0" dirty="0">
                <a:solidFill>
                  <a:srgbClr val="872427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it-IT" noProof="0" dirty="0"/>
              <a:t>Fare clic per modificare lo stile</a:t>
            </a:r>
          </a:p>
        </p:txBody>
      </p:sp>
      <p:sp>
        <p:nvSpPr>
          <p:cNvPr id="3" name="Text Box 27">
            <a:extLst>
              <a:ext uri="{FF2B5EF4-FFF2-40B4-BE49-F238E27FC236}">
                <a16:creationId xmlns:a16="http://schemas.microsoft.com/office/drawing/2014/main" id="{CCD6C71D-9EDC-407F-A452-BDE15B02FE5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100556" y="6525344"/>
            <a:ext cx="100036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176213">
              <a:defRPr sz="5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76213">
              <a:defRPr sz="5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76213">
              <a:defRPr sz="5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76213">
              <a:defRPr sz="5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76213">
              <a:defRPr sz="5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176213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176213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176213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176213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AD030C71-C924-4351-9B1D-FA5F002B7D8E}" type="slidenum">
              <a:rPr lang="it-IT" sz="1400" smtClean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>
                <a:spcBef>
                  <a:spcPct val="50000"/>
                </a:spcBef>
                <a:defRPr/>
              </a:pPr>
              <a:t>‹N›</a:t>
            </a:fld>
            <a:endParaRPr lang="it-IT" sz="140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512331"/>
      </p:ext>
    </p:extLst>
  </p:cSld>
  <p:clrMapOvr>
    <a:masterClrMapping/>
  </p:clrMapOvr>
  <p:hf hdr="0" ftr="0" dt="0"/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e 17">
            <a:extLst>
              <a:ext uri="{FF2B5EF4-FFF2-40B4-BE49-F238E27FC236}">
                <a16:creationId xmlns:a16="http://schemas.microsoft.com/office/drawing/2014/main" id="{3C19E3D2-A54F-4204-96C8-419D66648B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28588" y="836613"/>
            <a:ext cx="11954020" cy="0"/>
          </a:xfrm>
          <a:prstGeom prst="line">
            <a:avLst/>
          </a:prstGeom>
          <a:noFill/>
          <a:ln w="15875">
            <a:solidFill>
              <a:srgbClr val="9B0014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it-IT" dirty="0"/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E43522C7-0462-4EF3-8BB7-F7FBBEF6C092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6200000">
            <a:off x="10726817" y="2029709"/>
            <a:ext cx="2426650" cy="284932"/>
          </a:xfrm>
          <a:prstGeom prst="rect">
            <a:avLst/>
          </a:prstGeom>
          <a:solidFill>
            <a:sysClr val="window" lastClr="FFFF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18969" tIns="9484" rIns="18969" bIns="9484">
            <a:spAutoFit/>
          </a:bodyPr>
          <a:lstStyle/>
          <a:p>
            <a:pPr marL="0" marR="0" lvl="0" indent="0" algn="r" defTabSz="1901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727" b="0" i="1" u="none" strike="noStrike" kern="0" cap="none" spc="0" normalizeH="0" baseline="0" noProof="0" dirty="0">
                <a:ln>
                  <a:noFill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www.dii.unipd.it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6DE3CEF1-7F62-4F10-B42A-819651834EA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619925"/>
            <a:ext cx="6917096" cy="238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106853" tIns="53232" rIns="106853" bIns="53232"/>
          <a:lstStyle/>
          <a:p>
            <a:pPr defTabSz="484890">
              <a:lnSpc>
                <a:spcPct val="90000"/>
              </a:lnSpc>
              <a:buClr>
                <a:srgbClr val="000000"/>
              </a:buClr>
              <a:buSzPct val="100000"/>
              <a:buFont typeface="Tahoma" pitchFamily="32" charset="0"/>
              <a:buNone/>
              <a:tabLst>
                <a:tab pos="0" algn="l"/>
                <a:tab pos="483176" algn="l"/>
                <a:tab pos="968065" algn="l"/>
                <a:tab pos="1452954" algn="l"/>
                <a:tab pos="1937843" algn="l"/>
                <a:tab pos="2422732" algn="l"/>
                <a:tab pos="2907621" algn="l"/>
                <a:tab pos="3392510" algn="l"/>
                <a:tab pos="3877399" algn="l"/>
                <a:tab pos="4362288" algn="l"/>
                <a:tab pos="4847177" algn="l"/>
                <a:tab pos="5332066" algn="l"/>
                <a:tab pos="5816955" algn="l"/>
                <a:tab pos="6301844" algn="l"/>
                <a:tab pos="6786733" algn="l"/>
                <a:tab pos="7271622" algn="l"/>
                <a:tab pos="7756511" algn="l"/>
                <a:tab pos="8241400" algn="l"/>
                <a:tab pos="8726289" algn="l"/>
                <a:tab pos="9211178" algn="l"/>
                <a:tab pos="9696067" algn="l"/>
              </a:tabLst>
              <a:defRPr/>
            </a:pPr>
            <a:r>
              <a:rPr lang="it-IT" sz="1187" b="0" i="1" dirty="0">
                <a:solidFill>
                  <a:schemeClr val="bg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 xml:space="preserve">Corso di Laurea </a:t>
            </a:r>
            <a:r>
              <a:rPr lang="it-IT" sz="1187" b="0" i="1">
                <a:solidFill>
                  <a:schemeClr val="bg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 Ingegneria …</a:t>
            </a:r>
            <a:endParaRPr lang="it-IT" sz="1187" b="0" i="1" dirty="0">
              <a:solidFill>
                <a:schemeClr val="bg1">
                  <a:lumMod val="7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386F10DD-DB35-469D-A54E-53351F20E8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5340" y="224644"/>
            <a:ext cx="1438781" cy="52430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7C2AC57-69D3-4A7C-AA3B-583CCDFB0E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5" b="2663"/>
          <a:stretch/>
        </p:blipFill>
        <p:spPr bwMode="auto">
          <a:xfrm>
            <a:off x="10488488" y="110140"/>
            <a:ext cx="1517645" cy="67432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29223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txStyles>
    <p:titleStyle>
      <a:lvl1pPr algn="ctr" defTabSz="449274" rtl="0" eaLnBrk="0" fontAlgn="base" hangingPunct="0">
        <a:lnSpc>
          <a:spcPct val="8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700">
          <a:solidFill>
            <a:srgbClr val="000000"/>
          </a:solidFill>
          <a:latin typeface="+mj-lt"/>
          <a:ea typeface="Lucida Sans Unicode" charset="0"/>
          <a:cs typeface="+mj-cs"/>
        </a:defRPr>
      </a:lvl1pPr>
      <a:lvl2pPr algn="ctr" defTabSz="449274" rtl="0" eaLnBrk="0" fontAlgn="base" hangingPunct="0">
        <a:lnSpc>
          <a:spcPct val="8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700">
          <a:solidFill>
            <a:srgbClr val="000000"/>
          </a:solidFill>
          <a:latin typeface="Times New Roman" pitchFamily="16" charset="0"/>
          <a:ea typeface="Lucida Sans Unicode" charset="0"/>
          <a:cs typeface="Lucida Sans Unicode" charset="0"/>
        </a:defRPr>
      </a:lvl2pPr>
      <a:lvl3pPr algn="ctr" defTabSz="449274" rtl="0" eaLnBrk="0" fontAlgn="base" hangingPunct="0">
        <a:lnSpc>
          <a:spcPct val="8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700">
          <a:solidFill>
            <a:srgbClr val="000000"/>
          </a:solidFill>
          <a:latin typeface="Times New Roman" pitchFamily="16" charset="0"/>
          <a:ea typeface="Lucida Sans Unicode" charset="0"/>
          <a:cs typeface="Lucida Sans Unicode" charset="0"/>
        </a:defRPr>
      </a:lvl3pPr>
      <a:lvl4pPr algn="ctr" defTabSz="449274" rtl="0" eaLnBrk="0" fontAlgn="base" hangingPunct="0">
        <a:lnSpc>
          <a:spcPct val="8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700">
          <a:solidFill>
            <a:srgbClr val="000000"/>
          </a:solidFill>
          <a:latin typeface="Times New Roman" pitchFamily="16" charset="0"/>
          <a:ea typeface="Lucida Sans Unicode" charset="0"/>
          <a:cs typeface="Lucida Sans Unicode" charset="0"/>
        </a:defRPr>
      </a:lvl4pPr>
      <a:lvl5pPr algn="ctr" defTabSz="449274" rtl="0" eaLnBrk="0" fontAlgn="base" hangingPunct="0">
        <a:lnSpc>
          <a:spcPct val="8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700">
          <a:solidFill>
            <a:srgbClr val="000000"/>
          </a:solidFill>
          <a:latin typeface="Times New Roman" pitchFamily="16" charset="0"/>
          <a:ea typeface="Lucida Sans Unicode" charset="0"/>
          <a:cs typeface="Lucida Sans Unicode" charset="0"/>
        </a:defRPr>
      </a:lvl5pPr>
      <a:lvl6pPr marL="457212" algn="ctr" defTabSz="449274" rtl="0" eaLnBrk="0" fontAlgn="base" hangingPunct="0">
        <a:lnSpc>
          <a:spcPct val="8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700">
          <a:solidFill>
            <a:srgbClr val="000000"/>
          </a:solidFill>
          <a:latin typeface="Times New Roman" pitchFamily="16" charset="0"/>
          <a:cs typeface="Lucida Sans Unicode" charset="0"/>
        </a:defRPr>
      </a:lvl6pPr>
      <a:lvl7pPr marL="914423" algn="ctr" defTabSz="449274" rtl="0" eaLnBrk="0" fontAlgn="base" hangingPunct="0">
        <a:lnSpc>
          <a:spcPct val="8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700">
          <a:solidFill>
            <a:srgbClr val="000000"/>
          </a:solidFill>
          <a:latin typeface="Times New Roman" pitchFamily="16" charset="0"/>
          <a:cs typeface="Lucida Sans Unicode" charset="0"/>
        </a:defRPr>
      </a:lvl7pPr>
      <a:lvl8pPr marL="1371634" algn="ctr" defTabSz="449274" rtl="0" eaLnBrk="0" fontAlgn="base" hangingPunct="0">
        <a:lnSpc>
          <a:spcPct val="8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700">
          <a:solidFill>
            <a:srgbClr val="000000"/>
          </a:solidFill>
          <a:latin typeface="Times New Roman" pitchFamily="16" charset="0"/>
          <a:cs typeface="Lucida Sans Unicode" charset="0"/>
        </a:defRPr>
      </a:lvl8pPr>
      <a:lvl9pPr marL="1828846" algn="ctr" defTabSz="449274" rtl="0" eaLnBrk="0" fontAlgn="base" hangingPunct="0">
        <a:lnSpc>
          <a:spcPct val="8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700">
          <a:solidFill>
            <a:srgbClr val="000000"/>
          </a:solidFill>
          <a:latin typeface="Times New Roman" pitchFamily="16" charset="0"/>
          <a:cs typeface="Lucida Sans Unicode" charset="0"/>
        </a:defRPr>
      </a:lvl9pPr>
    </p:titleStyle>
    <p:bodyStyle>
      <a:lvl1pPr marL="363547" indent="-363547" algn="l" defTabSz="449274" rtl="0" eaLnBrk="0" fontAlgn="base" hangingPunct="0">
        <a:lnSpc>
          <a:spcPct val="82000"/>
        </a:lnSpc>
        <a:spcBef>
          <a:spcPts val="8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400">
          <a:solidFill>
            <a:srgbClr val="000000"/>
          </a:solidFill>
          <a:latin typeface="+mn-lt"/>
          <a:ea typeface="Lucida Sans Unicode" charset="0"/>
          <a:cs typeface="+mn-cs"/>
        </a:defRPr>
      </a:lvl1pPr>
      <a:lvl2pPr marL="793770" indent="-301633" algn="l" defTabSz="449274" rtl="0" eaLnBrk="0" fontAlgn="base" hangingPunct="0">
        <a:lnSpc>
          <a:spcPct val="82000"/>
        </a:lnSpc>
        <a:spcBef>
          <a:spcPts val="7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3000">
          <a:solidFill>
            <a:srgbClr val="000000"/>
          </a:solidFill>
          <a:latin typeface="+mn-lt"/>
          <a:ea typeface="Lucida Sans Unicode" charset="0"/>
          <a:cs typeface="+mn-cs"/>
        </a:defRPr>
      </a:lvl2pPr>
      <a:lvl3pPr marL="1223994" indent="-239719" algn="l" defTabSz="449274" rtl="0" eaLnBrk="0" fontAlgn="base" hangingPunct="0">
        <a:lnSpc>
          <a:spcPct val="82000"/>
        </a:lnSpc>
        <a:spcBef>
          <a:spcPts val="6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600">
          <a:solidFill>
            <a:srgbClr val="000000"/>
          </a:solidFill>
          <a:latin typeface="+mn-lt"/>
          <a:ea typeface="Lucida Sans Unicode" charset="0"/>
          <a:cs typeface="+mn-cs"/>
        </a:defRPr>
      </a:lvl3pPr>
      <a:lvl4pPr marL="1716131" indent="-239719" algn="l" defTabSz="449274" rtl="0" eaLnBrk="0" fontAlgn="base" hangingPunct="0">
        <a:lnSpc>
          <a:spcPct val="82000"/>
        </a:lnSpc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200">
          <a:solidFill>
            <a:srgbClr val="000000"/>
          </a:solidFill>
          <a:latin typeface="+mn-lt"/>
          <a:ea typeface="Lucida Sans Unicode" charset="0"/>
          <a:cs typeface="+mn-cs"/>
        </a:defRPr>
      </a:lvl4pPr>
      <a:lvl5pPr marL="2208269" indent="-239719" algn="l" defTabSz="449274" rtl="0" eaLnBrk="0" fontAlgn="base" hangingPunct="0">
        <a:lnSpc>
          <a:spcPct val="82000"/>
        </a:lnSpc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200">
          <a:solidFill>
            <a:srgbClr val="000000"/>
          </a:solidFill>
          <a:latin typeface="+mn-lt"/>
          <a:ea typeface="Lucida Sans Unicode" charset="0"/>
          <a:cs typeface="+mn-cs"/>
        </a:defRPr>
      </a:lvl5pPr>
      <a:lvl6pPr marL="2665479" indent="-239719" algn="l" defTabSz="449274" rtl="0" eaLnBrk="0" fontAlgn="base" hangingPunct="0">
        <a:lnSpc>
          <a:spcPct val="82000"/>
        </a:lnSpc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•"/>
        <a:defRPr sz="2200">
          <a:solidFill>
            <a:srgbClr val="000000"/>
          </a:solidFill>
          <a:latin typeface="+mn-lt"/>
          <a:cs typeface="+mn-cs"/>
        </a:defRPr>
      </a:lvl6pPr>
      <a:lvl7pPr marL="3122691" indent="-239719" algn="l" defTabSz="449274" rtl="0" eaLnBrk="0" fontAlgn="base" hangingPunct="0">
        <a:lnSpc>
          <a:spcPct val="82000"/>
        </a:lnSpc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•"/>
        <a:defRPr sz="2200">
          <a:solidFill>
            <a:srgbClr val="000000"/>
          </a:solidFill>
          <a:latin typeface="+mn-lt"/>
          <a:cs typeface="+mn-cs"/>
        </a:defRPr>
      </a:lvl7pPr>
      <a:lvl8pPr marL="3579903" indent="-239719" algn="l" defTabSz="449274" rtl="0" eaLnBrk="0" fontAlgn="base" hangingPunct="0">
        <a:lnSpc>
          <a:spcPct val="82000"/>
        </a:lnSpc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•"/>
        <a:defRPr sz="2200">
          <a:solidFill>
            <a:srgbClr val="000000"/>
          </a:solidFill>
          <a:latin typeface="+mn-lt"/>
          <a:cs typeface="+mn-cs"/>
        </a:defRPr>
      </a:lvl8pPr>
      <a:lvl9pPr marL="4037114" indent="-239719" algn="l" defTabSz="449274" rtl="0" eaLnBrk="0" fontAlgn="base" hangingPunct="0">
        <a:lnSpc>
          <a:spcPct val="82000"/>
        </a:lnSpc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•"/>
        <a:defRPr sz="22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100" Type="http://schemas.openxmlformats.org/officeDocument/2006/relationships/hyperlink" Target="https://github.com/dkorn2004/Automatic_irrigation_system" TargetMode="Externa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9766">
            <a:extLst>
              <a:ext uri="{FF2B5EF4-FFF2-40B4-BE49-F238E27FC236}">
                <a16:creationId xmlns:a16="http://schemas.microsoft.com/office/drawing/2014/main" id="{14460D94-AB31-4773-A299-F5425C574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800" y="2864392"/>
            <a:ext cx="9054400" cy="1049049"/>
          </a:xfrm>
          <a:prstGeom prst="rect">
            <a:avLst/>
          </a:prstGeom>
          <a:noFill/>
          <a:ln w="50800">
            <a:noFill/>
            <a:miter lim="800000"/>
            <a:headEnd/>
            <a:tailEnd/>
          </a:ln>
          <a:effectLst/>
        </p:spPr>
        <p:txBody>
          <a:bodyPr lIns="599365" tIns="298694" rIns="599365" bIns="298694" anchor="ctr"/>
          <a:lstStyle/>
          <a:p>
            <a:pPr algn="ctr" defTabSz="5948886">
              <a:lnSpc>
                <a:spcPct val="90000"/>
              </a:lnSpc>
              <a:tabLst>
                <a:tab pos="8930182" algn="l"/>
              </a:tabLst>
              <a:defRPr/>
            </a:pPr>
            <a:r>
              <a:rPr lang="it-IT" sz="40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Relazione per la prova finale</a:t>
            </a:r>
          </a:p>
          <a:p>
            <a:pPr algn="ctr" defTabSz="5948886">
              <a:lnSpc>
                <a:spcPct val="90000"/>
              </a:lnSpc>
              <a:tabLst>
                <a:tab pos="8930182" algn="l"/>
              </a:tabLst>
              <a:defRPr/>
            </a:pPr>
            <a:r>
              <a:rPr lang="it-IT" sz="40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«Sistema di Irrigazione Automatico con Gestione Energetica Autonoma»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EC98550-D8EE-4527-99F9-D94F12DD9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4469172"/>
            <a:ext cx="5868652" cy="672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lvl="1">
              <a:lnSpc>
                <a:spcPct val="120000"/>
              </a:lnSpc>
              <a:spcBef>
                <a:spcPct val="20000"/>
              </a:spcBef>
              <a:defRPr/>
            </a:pPr>
            <a:r>
              <a:rPr lang="it-IT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 xml:space="preserve">Tutor universitario: Prof. </a:t>
            </a:r>
            <a:r>
              <a:rPr lang="it-IT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Varagnolo</a:t>
            </a:r>
            <a:r>
              <a:rPr lang="it-IT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 xml:space="preserve"> Damiano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CE39222D-B6A0-4593-B910-1AD248AAE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500" y="5595405"/>
            <a:ext cx="3526944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it-IT" altLang="it-IT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Padova, 06/07/2026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162E5E4-649E-4433-B24B-789C941A0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6160" y="5026303"/>
            <a:ext cx="4932548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lvl="1" algn="just">
              <a:lnSpc>
                <a:spcPct val="120000"/>
              </a:lnSpc>
              <a:spcBef>
                <a:spcPct val="20000"/>
              </a:spcBef>
              <a:defRPr/>
            </a:pPr>
            <a:r>
              <a:rPr lang="it-IT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Laureando</a:t>
            </a:r>
            <a:r>
              <a:rPr lang="it-IT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: Cornaglia Davide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343C230-3179-48D6-9B29-27278941F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5450" y="1180497"/>
            <a:ext cx="9901100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lvl="1" algn="ctr">
              <a:lnSpc>
                <a:spcPct val="120000"/>
              </a:lnSpc>
              <a:spcBef>
                <a:spcPct val="20000"/>
              </a:spcBef>
              <a:defRPr/>
            </a:pPr>
            <a:r>
              <a:rPr lang="it-IT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Università degli Studi di Padova – Dipartimento di Ingegneria Industriale</a:t>
            </a:r>
          </a:p>
          <a:p>
            <a:pPr marL="0" lvl="1" algn="ctr">
              <a:lnSpc>
                <a:spcPct val="120000"/>
              </a:lnSpc>
              <a:spcBef>
                <a:spcPct val="20000"/>
              </a:spcBef>
              <a:defRPr/>
            </a:pPr>
            <a:r>
              <a:rPr lang="it-IT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Corso di Laurea in Ingegneria dell’Energia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dirty="0"/>
              <a:t>Obiettivi del Progetto</a:t>
            </a:r>
          </a:p>
        </p:txBody>
      </p:sp>
      <p:sp>
        <p:nvSpPr>
          <p:cNvPr id="20" name="TextBox20"/>
          <p:cNvSpPr txBox="1"/>
          <p:nvPr/>
        </p:nvSpPr>
        <p:spPr>
          <a:xfrm>
            <a:off x="875420" y="913226"/>
            <a:ext cx="10441160" cy="5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>
              <a:buNone/>
            </a:pPr>
            <a:r>
              <a:rPr lang="it-IT" sz="1800" kern="0" spc="-10" dirty="0">
                <a:latin typeface="Calibri"/>
                <a:cs typeface="Calibri"/>
              </a:rPr>
              <a:t>Il prototipo finale è un sistema capace di prendere decisioni in autonomia su tre fronti:</a:t>
            </a:r>
          </a:p>
        </p:txBody>
      </p:sp>
      <p:sp>
        <p:nvSpPr>
          <p:cNvPr id="40" name="Card40"/>
          <p:cNvSpPr/>
          <p:nvPr/>
        </p:nvSpPr>
        <p:spPr>
          <a:xfrm>
            <a:off x="371364" y="1412431"/>
            <a:ext cx="6552728" cy="166409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15875">
            <a:solidFill>
              <a:srgbClr val="E67E22"/>
            </a:solidFill>
          </a:ln>
        </p:spPr>
        <p:txBody>
          <a:bodyPr wrap="square" lIns="108000" tIns="72000" rIns="108000" bIns="72000" rtlCol="0" anchor="ctr">
            <a:normAutofit fontScale="92500" lnSpcReduction="20000"/>
          </a:bodyPr>
          <a:lstStyle/>
          <a:p>
            <a:pPr>
              <a:buNone/>
            </a:pPr>
            <a:r>
              <a:rPr lang="it-IT" sz="2200" b="1" dirty="0">
                <a:solidFill>
                  <a:srgbClr val="E67E22"/>
                </a:solidFill>
                <a:latin typeface="Calibri"/>
                <a:cs typeface="Calibri"/>
              </a:rPr>
              <a:t>1 · Gestione Energetica</a:t>
            </a:r>
          </a:p>
          <a:p>
            <a:pPr algn="l">
              <a:buNone/>
            </a:pPr>
            <a:endParaRPr lang="it-IT" sz="600" dirty="0"/>
          </a:p>
          <a:p>
            <a:pPr algn="l">
              <a:buNone/>
            </a:pPr>
            <a:r>
              <a:rPr lang="it-IT" sz="1900" kern="0" spc="-10" dirty="0">
                <a:latin typeface="Calibri"/>
                <a:cs typeface="Calibri"/>
              </a:rPr>
              <a:t>Alimentazione da due fonti indipendenti:</a:t>
            </a:r>
          </a:p>
          <a:p>
            <a:pPr algn="l">
              <a:buNone/>
            </a:pPr>
            <a:r>
              <a:rPr lang="it-IT" sz="1900" kern="0" spc="-10" dirty="0">
                <a:latin typeface="Calibri"/>
                <a:cs typeface="Calibri"/>
              </a:rPr>
              <a:t xml:space="preserve">Fonte solare    2 pannelli 6V in serie (12V) che caricano le </a:t>
            </a:r>
            <a:r>
              <a:rPr lang="it-IT" sz="1900" kern="0" spc="-10" dirty="0" err="1">
                <a:latin typeface="Calibri"/>
                <a:cs typeface="Calibri"/>
              </a:rPr>
              <a:t>li-ion</a:t>
            </a:r>
            <a:r>
              <a:rPr lang="it-IT" sz="1900" kern="0" spc="-10" dirty="0">
                <a:latin typeface="Calibri"/>
                <a:cs typeface="Calibri"/>
              </a:rPr>
              <a:t>.</a:t>
            </a:r>
          </a:p>
          <a:p>
            <a:pPr algn="l">
              <a:buNone/>
            </a:pPr>
            <a:r>
              <a:rPr lang="it-IT" sz="1900" kern="0" spc="-10" dirty="0">
                <a:latin typeface="Calibri"/>
                <a:cs typeface="Calibri"/>
              </a:rPr>
              <a:t>Riserva    4 batterie AA (6V).</a:t>
            </a:r>
          </a:p>
          <a:p>
            <a:pPr algn="l">
              <a:buNone/>
            </a:pPr>
            <a:endParaRPr lang="it-IT" sz="1700" kern="0" spc="-10" dirty="0">
              <a:solidFill>
                <a:srgbClr val="555555"/>
              </a:solidFill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900" b="1" kern="0" spc="-10" dirty="0">
                <a:solidFill>
                  <a:srgbClr val="BA7517"/>
                </a:solidFill>
                <a:latin typeface="Calibri"/>
                <a:cs typeface="Calibri"/>
              </a:rPr>
              <a:t>Obiettivo: autonomia dalla rete elettrica.</a:t>
            </a:r>
          </a:p>
        </p:txBody>
      </p:sp>
      <p:sp>
        <p:nvSpPr>
          <p:cNvPr id="41" name="Card41"/>
          <p:cNvSpPr/>
          <p:nvPr/>
        </p:nvSpPr>
        <p:spPr>
          <a:xfrm>
            <a:off x="371364" y="3169723"/>
            <a:ext cx="6552728" cy="1768252"/>
          </a:xfrm>
          <a:prstGeom prst="roundRect">
            <a:avLst>
              <a:gd name="adj" fmla="val 6000"/>
            </a:avLst>
          </a:prstGeom>
          <a:solidFill>
            <a:srgbClr val="FDEDEC"/>
          </a:solidFill>
          <a:ln w="15875">
            <a:solidFill>
              <a:srgbClr val="C0392B"/>
            </a:solidFill>
          </a:ln>
        </p:spPr>
        <p:txBody>
          <a:bodyPr wrap="square" lIns="108000" tIns="72000" rIns="108000" bIns="72000" rtlCol="0" anchor="ctr">
            <a:normAutofit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C0392B"/>
                </a:solidFill>
                <a:latin typeface="Calibri"/>
                <a:cs typeface="Calibri"/>
              </a:rPr>
              <a:t>2 · Protezione dei Componenti</a:t>
            </a:r>
          </a:p>
          <a:p>
            <a:pPr algn="l">
              <a:buNone/>
            </a:pPr>
            <a:endParaRPr lang="it-IT" sz="600" dirty="0"/>
          </a:p>
          <a:p>
            <a:r>
              <a:rPr lang="it-IT" sz="1800" kern="0" spc="-10" dirty="0">
                <a:latin typeface="Calibri"/>
                <a:cs typeface="Calibri"/>
              </a:rPr>
              <a:t>Un sistema di ricarica e gestione (TP5100  e BMS) sorveglia le celle a livello elettronico e previene sovraccarica e scarica eccessiva.</a:t>
            </a:r>
          </a:p>
          <a:p>
            <a:pPr algn="l">
              <a:buNone/>
            </a:pPr>
            <a:endParaRPr lang="it-IT" sz="1700" kern="0" spc="-10" dirty="0">
              <a:solidFill>
                <a:srgbClr val="555555"/>
              </a:solidFill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800" b="1" kern="0" spc="-10" dirty="0">
                <a:solidFill>
                  <a:srgbClr val="922B21"/>
                </a:solidFill>
                <a:latin typeface="Calibri"/>
                <a:cs typeface="Calibri"/>
              </a:rPr>
              <a:t>Obiettivo: preservare la durata della vita delle batterie.</a:t>
            </a:r>
          </a:p>
        </p:txBody>
      </p:sp>
      <p:sp>
        <p:nvSpPr>
          <p:cNvPr id="42" name="Card42"/>
          <p:cNvSpPr/>
          <p:nvPr/>
        </p:nvSpPr>
        <p:spPr>
          <a:xfrm>
            <a:off x="371364" y="5031178"/>
            <a:ext cx="6552728" cy="1620180"/>
          </a:xfrm>
          <a:prstGeom prst="roundRect">
            <a:avLst>
              <a:gd name="adj" fmla="val 6000"/>
            </a:avLst>
          </a:prstGeom>
          <a:solidFill>
            <a:srgbClr val="E9F7EF"/>
          </a:solidFill>
          <a:ln w="15875">
            <a:solidFill>
              <a:srgbClr val="27AE60"/>
            </a:solidFill>
          </a:ln>
        </p:spPr>
        <p:txBody>
          <a:bodyPr wrap="square" lIns="108000" tIns="72000" rIns="108000" bIns="72000" rtlCol="0" anchor="ctr">
            <a:normAutofit fontScale="92500" lnSpcReduction="20000"/>
          </a:bodyPr>
          <a:lstStyle/>
          <a:p>
            <a:pPr algn="l">
              <a:buNone/>
            </a:pPr>
            <a:r>
              <a:rPr lang="it-IT" sz="2200" b="1" dirty="0">
                <a:solidFill>
                  <a:srgbClr val="27AE60"/>
                </a:solidFill>
                <a:latin typeface="Calibri"/>
                <a:cs typeface="Calibri"/>
              </a:rPr>
              <a:t>3 · Efficienza Idrica</a:t>
            </a:r>
          </a:p>
          <a:p>
            <a:pPr algn="l">
              <a:buNone/>
            </a:pPr>
            <a:endParaRPr lang="it-IT" sz="600" dirty="0"/>
          </a:p>
          <a:p>
            <a:pPr algn="l">
              <a:buNone/>
            </a:pPr>
            <a:r>
              <a:rPr lang="it-IT" sz="1900" kern="0" spc="-10" dirty="0">
                <a:latin typeface="Calibri"/>
                <a:cs typeface="Calibri"/>
              </a:rPr>
              <a:t>Controllo proporzionale della portata della pompa:</a:t>
            </a:r>
          </a:p>
          <a:p>
            <a:r>
              <a:rPr lang="it-IT" sz="1900" kern="0" spc="-10" dirty="0">
                <a:latin typeface="Calibri"/>
                <a:cs typeface="Calibri"/>
              </a:rPr>
              <a:t>Modulazione della potenza erogata tramite segnale PWM inviato al MOSFET.</a:t>
            </a:r>
          </a:p>
          <a:p>
            <a:endParaRPr lang="it-IT" sz="1700" kern="0" spc="-10" dirty="0">
              <a:solidFill>
                <a:srgbClr val="555555"/>
              </a:solidFill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900" b="1" kern="0" spc="-10" dirty="0">
                <a:solidFill>
                  <a:srgbClr val="1A7A4A"/>
                </a:solidFill>
                <a:latin typeface="Calibri"/>
                <a:cs typeface="Calibri"/>
              </a:rPr>
              <a:t>Obiettivo: zero sprechi d'acqua.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BA10B38D-ACF6-02FB-3994-57AC38C19B5C}"/>
              </a:ext>
            </a:extLst>
          </p:cNvPr>
          <p:cNvCxnSpPr>
            <a:cxnSpLocks/>
          </p:cNvCxnSpPr>
          <p:nvPr/>
        </p:nvCxnSpPr>
        <p:spPr bwMode="auto">
          <a:xfrm>
            <a:off x="1690428" y="2204864"/>
            <a:ext cx="144016" cy="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C173BBAF-F4DC-5FBF-3AA4-826152026F78}"/>
              </a:ext>
            </a:extLst>
          </p:cNvPr>
          <p:cNvCxnSpPr>
            <a:cxnSpLocks/>
          </p:cNvCxnSpPr>
          <p:nvPr/>
        </p:nvCxnSpPr>
        <p:spPr bwMode="auto">
          <a:xfrm>
            <a:off x="1199456" y="2420888"/>
            <a:ext cx="144016" cy="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dirty="0"/>
              <a:t>Il Problema del Controllo</a:t>
            </a:r>
          </a:p>
        </p:txBody>
      </p:sp>
      <p:sp>
        <p:nvSpPr>
          <p:cNvPr id="40" name="Card40"/>
          <p:cNvSpPr/>
          <p:nvPr/>
        </p:nvSpPr>
        <p:spPr>
          <a:xfrm>
            <a:off x="875420" y="1420000"/>
            <a:ext cx="5070580" cy="4880000"/>
          </a:xfrm>
          <a:prstGeom prst="roundRect">
            <a:avLst>
              <a:gd name="adj" fmla="val 6000"/>
            </a:avLst>
          </a:prstGeom>
          <a:solidFill>
            <a:srgbClr val="FDEDEC"/>
          </a:solidFill>
          <a:ln w="15875">
            <a:solidFill>
              <a:srgbClr val="C0392B"/>
            </a:solidFill>
          </a:ln>
        </p:spPr>
        <p:txBody>
          <a:bodyPr wrap="square" lIns="108000" tIns="72000" rIns="108000" bIns="72000" rtlCol="0" anchor="ctr">
            <a:normAutofit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C0392B"/>
                </a:solidFill>
                <a:latin typeface="Calibri"/>
                <a:cs typeface="Calibri"/>
              </a:rPr>
              <a:t>Approccio Tradizionale — Anello Aperto</a:t>
            </a:r>
          </a:p>
          <a:p>
            <a:pPr algn="l">
              <a:buNone/>
            </a:pPr>
            <a:endParaRPr lang="it-IT" sz="600" dirty="0"/>
          </a:p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>-I sistemi classici usano temporizzatori fissi: la pompa parte a orari prestabiliti, senza misurare l'umidità reale.</a:t>
            </a:r>
          </a:p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>-</a:t>
            </a:r>
            <a:r>
              <a:rPr lang="it-IT" sz="1800" b="1" kern="0" spc="-10" dirty="0">
                <a:latin typeface="Calibri"/>
                <a:cs typeface="Calibri"/>
              </a:rPr>
              <a:t>Non essendoci retroazione, il sistema non compensa i disturbi ambientali (piogge o siccità) e spreca acqua</a:t>
            </a:r>
            <a:r>
              <a:rPr lang="it-IT" sz="1800" kern="0" spc="-10" dirty="0">
                <a:latin typeface="Calibri"/>
                <a:cs typeface="Calibri"/>
              </a:rPr>
              <a:t>.</a:t>
            </a:r>
          </a:p>
          <a:p>
            <a:pPr algn="l">
              <a:buNone/>
            </a:pPr>
            <a:endParaRPr lang="it-IT" sz="1800" kern="0" spc="-10" dirty="0">
              <a:solidFill>
                <a:srgbClr val="333333"/>
              </a:solidFill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800" b="1" kern="0" spc="-10" dirty="0">
                <a:solidFill>
                  <a:srgbClr val="8B0000"/>
                </a:solidFill>
                <a:latin typeface="Calibri"/>
                <a:cs typeface="Calibri"/>
              </a:rPr>
              <a:t>Legge di controllo:</a:t>
            </a:r>
          </a:p>
          <a:p>
            <a:pPr algn="l">
              <a:buNone/>
            </a:pPr>
            <a:r>
              <a:rPr lang="it-IT" sz="1800" b="1" kern="0" spc="-10" dirty="0">
                <a:solidFill>
                  <a:srgbClr val="C0392B"/>
                </a:solidFill>
                <a:latin typeface="Calibri"/>
                <a:cs typeface="Calibri"/>
              </a:rPr>
              <a:t>u(t) = costante (timer)</a:t>
            </a:r>
          </a:p>
          <a:p>
            <a:pPr algn="l">
              <a:buNone/>
            </a:pPr>
            <a:endParaRPr lang="it-IT" sz="1800" b="1" kern="0" spc="-10" dirty="0">
              <a:solidFill>
                <a:srgbClr val="C0392B"/>
              </a:solidFill>
              <a:latin typeface="Calibri"/>
              <a:cs typeface="Calibri"/>
            </a:endParaRPr>
          </a:p>
          <a:p>
            <a:r>
              <a:rPr lang="it-IT" sz="1800" kern="0" spc="-10" dirty="0">
                <a:latin typeface="Calibri"/>
                <a:cs typeface="Calibri"/>
              </a:rPr>
              <a:t>u(t) = comando alla pompa</a:t>
            </a:r>
          </a:p>
          <a:p>
            <a:r>
              <a:rPr lang="it-IT" sz="1800" kern="0" spc="-10" dirty="0">
                <a:latin typeface="Calibri"/>
                <a:cs typeface="Calibri"/>
              </a:rPr>
              <a:t>Il comando non dipende dallo stato del terreno: è deciso solo dall'orologio.</a:t>
            </a:r>
          </a:p>
        </p:txBody>
      </p:sp>
      <p:sp>
        <p:nvSpPr>
          <p:cNvPr id="41" name="Card41"/>
          <p:cNvSpPr/>
          <p:nvPr/>
        </p:nvSpPr>
        <p:spPr>
          <a:xfrm>
            <a:off x="6246000" y="1420000"/>
            <a:ext cx="5070580" cy="4880000"/>
          </a:xfrm>
          <a:prstGeom prst="roundRect">
            <a:avLst>
              <a:gd name="adj" fmla="val 6000"/>
            </a:avLst>
          </a:prstGeom>
          <a:solidFill>
            <a:srgbClr val="E9F7EF"/>
          </a:solidFill>
          <a:ln w="15875">
            <a:solidFill>
              <a:srgbClr val="27AE60"/>
            </a:solidFill>
          </a:ln>
        </p:spPr>
        <p:txBody>
          <a:bodyPr wrap="square" lIns="108000" tIns="72000" rIns="108000" bIns="72000" rtlCol="0" anchor="ctr">
            <a:normAutofit/>
          </a:bodyPr>
          <a:lstStyle/>
          <a:p>
            <a:pPr algn="l">
              <a:buNone/>
            </a:pPr>
            <a:r>
              <a:rPr lang="it-IT" sz="2100" b="1" dirty="0">
                <a:solidFill>
                  <a:srgbClr val="27AE60"/>
                </a:solidFill>
                <a:latin typeface="Calibri"/>
                <a:cs typeface="Calibri"/>
              </a:rPr>
              <a:t>Soluzione Proposta — Anello Chiuso</a:t>
            </a:r>
          </a:p>
          <a:p>
            <a:pPr algn="l">
              <a:buNone/>
            </a:pPr>
            <a:endParaRPr lang="it-IT" sz="600" dirty="0"/>
          </a:p>
          <a:p>
            <a:pPr>
              <a:buNone/>
            </a:pPr>
            <a:r>
              <a:rPr lang="it-IT" sz="1800" b="1" kern="0" spc="-10" dirty="0">
                <a:latin typeface="Calibri"/>
                <a:cs typeface="Calibri"/>
              </a:rPr>
              <a:t>-Il microcontrollore misura l'umidità e regola la pompa per riportarla alla soglia desiderata. L'anello si chiude sul sensore.</a:t>
            </a:r>
          </a:p>
          <a:p>
            <a:pPr algn="l">
              <a:buNone/>
            </a:pPr>
            <a:endParaRPr lang="it-IT" sz="1700" kern="0" spc="-10" dirty="0">
              <a:solidFill>
                <a:srgbClr val="333333"/>
              </a:solidFill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800" b="1" kern="0" spc="-10" dirty="0">
                <a:solidFill>
                  <a:srgbClr val="1A7A4A"/>
                </a:solidFill>
                <a:latin typeface="Calibri"/>
                <a:cs typeface="Calibri"/>
              </a:rPr>
              <a:t>Legge di controllo proporzionale:</a:t>
            </a:r>
          </a:p>
          <a:p>
            <a:pPr algn="l">
              <a:buNone/>
            </a:pPr>
            <a:r>
              <a:rPr lang="it-IT" sz="1800" b="1" kern="0" spc="-10" dirty="0">
                <a:solidFill>
                  <a:srgbClr val="27AE60"/>
                </a:solidFill>
                <a:latin typeface="Calibri"/>
                <a:cs typeface="Calibri"/>
              </a:rPr>
              <a:t xml:space="preserve">u(t) = </a:t>
            </a:r>
            <a:r>
              <a:rPr lang="it-IT" sz="1800" b="1" kern="0" spc="-10" dirty="0" err="1">
                <a:solidFill>
                  <a:srgbClr val="27AE60"/>
                </a:solidFill>
                <a:latin typeface="Calibri"/>
                <a:cs typeface="Calibri"/>
              </a:rPr>
              <a:t>Kp</a:t>
            </a:r>
            <a:r>
              <a:rPr lang="it-IT" sz="1800" b="1" kern="0" spc="-10" dirty="0">
                <a:solidFill>
                  <a:srgbClr val="27AE60"/>
                </a:solidFill>
                <a:latin typeface="Calibri"/>
                <a:cs typeface="Calibri"/>
              </a:rPr>
              <a:t xml:space="preserve"> * e(t)      con   e(t) = r(t) - y(t)</a:t>
            </a:r>
          </a:p>
          <a:p>
            <a:pPr algn="l">
              <a:buNone/>
            </a:pPr>
            <a:endParaRPr lang="it-IT" sz="1700" b="1" kern="0" spc="-10" dirty="0">
              <a:solidFill>
                <a:srgbClr val="27AE60"/>
              </a:solidFill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>e(t) = errore (quanto è secco il terreno)</a:t>
            </a:r>
          </a:p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>r(t) = riferimento (soglia di umidità voluta)</a:t>
            </a:r>
          </a:p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>y(t) = uscita misurata (umidità attuale del suolo)</a:t>
            </a:r>
          </a:p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>Kp = guadagno (traduce l'errore in potenza PWM)</a:t>
            </a:r>
          </a:p>
          <a:p>
            <a:pPr algn="l">
              <a:buNone/>
            </a:pPr>
            <a:endParaRPr lang="it-IT" sz="1700" kern="0" spc="-10" dirty="0">
              <a:solidFill>
                <a:srgbClr val="555555"/>
              </a:solidFill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800" b="1" kern="0" spc="-10" dirty="0">
                <a:solidFill>
                  <a:srgbClr val="1A7A4A"/>
                </a:solidFill>
                <a:latin typeface="Calibri"/>
                <a:cs typeface="Calibri"/>
              </a:rPr>
              <a:t>Piu il terreno è secco, piu la pompa aumenta i giri.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dirty="0"/>
              <a:t>Schema di Controllo — Anello Chiuso</a:t>
            </a:r>
          </a:p>
        </p:txBody>
      </p:sp>
      <p:sp>
        <p:nvSpPr>
          <p:cNvPr id="99" name="TextBox99"/>
          <p:cNvSpPr txBox="1"/>
          <p:nvPr/>
        </p:nvSpPr>
        <p:spPr>
          <a:xfrm>
            <a:off x="875420" y="1140001"/>
            <a:ext cx="10441160" cy="36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buNone/>
            </a:pPr>
            <a:r>
              <a:rPr lang="it-IT" sz="1800" kern="0" spc="-10" dirty="0">
                <a:latin typeface="Calibri"/>
                <a:cs typeface="Calibri"/>
              </a:rPr>
              <a:t>Controllore proporzionale su Arduino Nano: il sensore in retroazione chiude l'anello e compensa i disturbi.</a:t>
            </a:r>
          </a:p>
        </p:txBody>
      </p:sp>
      <p:sp>
        <p:nvSpPr>
          <p:cNvPr id="100" name="Sum"/>
          <p:cNvSpPr/>
          <p:nvPr/>
        </p:nvSpPr>
        <p:spPr>
          <a:xfrm>
            <a:off x="1515600" y="2509000"/>
            <a:ext cx="560000" cy="5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B3A4B"/>
            </a:solidFill>
          </a:ln>
        </p:spPr>
        <p:txBody>
          <a:bodyPr lIns="0" tIns="0" rIns="0" bIns="0" anchor="ctr"/>
          <a:lstStyle/>
          <a:p>
            <a:pPr algn="ctr"/>
            <a:r>
              <a:rPr lang="it-IT" sz="1900" b="1" dirty="0">
                <a:solidFill>
                  <a:srgbClr val="1B3A4B"/>
                </a:solidFill>
                <a:latin typeface="Calibri"/>
              </a:rPr>
              <a:t>+/-</a:t>
            </a:r>
          </a:p>
        </p:txBody>
      </p:sp>
      <p:cxnSp>
        <p:nvCxnSpPr>
          <p:cNvPr id="150" name="rin"/>
          <p:cNvCxnSpPr>
            <a:cxnSpLocks/>
          </p:cNvCxnSpPr>
          <p:nvPr/>
        </p:nvCxnSpPr>
        <p:spPr>
          <a:xfrm>
            <a:off x="590984" y="2788465"/>
            <a:ext cx="924616" cy="0"/>
          </a:xfrm>
          <a:prstGeom prst="line">
            <a:avLst/>
          </a:prstGeom>
          <a:ln w="22225" cap="rnd">
            <a:solidFill>
              <a:srgbClr val="1B3A4B"/>
            </a:solidFill>
            <a:tailEnd type="triangle"/>
          </a:ln>
        </p:spPr>
      </p:cxnSp>
      <p:sp>
        <p:nvSpPr>
          <p:cNvPr id="124" name="TextBox124"/>
          <p:cNvSpPr txBox="1"/>
          <p:nvPr/>
        </p:nvSpPr>
        <p:spPr>
          <a:xfrm>
            <a:off x="975600" y="2369000"/>
            <a:ext cx="520000" cy="3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>
              <a:buNone/>
            </a:pPr>
            <a:r>
              <a:rPr lang="it-IT" sz="1450" i="1" kern="0" spc="-10" dirty="0">
                <a:solidFill>
                  <a:srgbClr val="333333"/>
                </a:solidFill>
                <a:latin typeface="Calibri"/>
                <a:cs typeface="Calibri"/>
              </a:rPr>
              <a:t>r(t)</a:t>
            </a:r>
          </a:p>
        </p:txBody>
      </p:sp>
      <p:sp>
        <p:nvSpPr>
          <p:cNvPr id="101" name="Box101"/>
          <p:cNvSpPr/>
          <p:nvPr/>
        </p:nvSpPr>
        <p:spPr>
          <a:xfrm>
            <a:off x="2495600" y="2149000"/>
            <a:ext cx="2280000" cy="1280000"/>
          </a:xfrm>
          <a:prstGeom prst="roundRect">
            <a:avLst>
              <a:gd name="adj" fmla="val 12000"/>
            </a:avLst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txBody>
          <a:bodyPr lIns="72000" tIns="36000" rIns="72000" bIns="36000" anchor="ctr">
            <a:normAutofit/>
          </a:bodyPr>
          <a:lstStyle/>
          <a:p>
            <a:pPr algn="ctr"/>
            <a:r>
              <a:rPr lang="it-IT" sz="1750" b="1" dirty="0">
                <a:solidFill>
                  <a:srgbClr val="1A7A4A"/>
                </a:solidFill>
                <a:latin typeface="Calibri"/>
                <a:cs typeface="Calibri"/>
              </a:rPr>
              <a:t>Controllore</a:t>
            </a:r>
          </a:p>
          <a:p>
            <a:pPr algn="ctr"/>
            <a:r>
              <a:rPr lang="it-IT" sz="1300" dirty="0">
                <a:solidFill>
                  <a:srgbClr val="333333"/>
                </a:solidFill>
                <a:latin typeface="Calibri"/>
                <a:cs typeface="Calibri"/>
              </a:rPr>
              <a:t>Arduino Nano</a:t>
            </a:r>
          </a:p>
          <a:p>
            <a:pPr algn="ctr"/>
            <a:r>
              <a:rPr lang="it-IT" sz="1250" b="1" dirty="0">
                <a:solidFill>
                  <a:srgbClr val="155724"/>
                </a:solidFill>
                <a:latin typeface="Calibri"/>
                <a:cs typeface="Calibri"/>
              </a:rPr>
              <a:t>u = map(e, 120, 255)</a:t>
            </a:r>
          </a:p>
        </p:txBody>
      </p:sp>
      <p:sp>
        <p:nvSpPr>
          <p:cNvPr id="125" name="TextBox125"/>
          <p:cNvSpPr txBox="1"/>
          <p:nvPr/>
        </p:nvSpPr>
        <p:spPr>
          <a:xfrm>
            <a:off x="2035600" y="2369000"/>
            <a:ext cx="460000" cy="3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>
              <a:buNone/>
            </a:pPr>
            <a:r>
              <a:rPr lang="it-IT" sz="1350" i="1" kern="0" spc="-10" dirty="0">
                <a:solidFill>
                  <a:srgbClr val="333333"/>
                </a:solidFill>
                <a:latin typeface="Calibri"/>
                <a:cs typeface="Calibri"/>
              </a:rPr>
              <a:t>e(t)</a:t>
            </a:r>
          </a:p>
        </p:txBody>
      </p:sp>
      <p:cxnSp>
        <p:nvCxnSpPr>
          <p:cNvPr id="151" name="ein"/>
          <p:cNvCxnSpPr/>
          <p:nvPr/>
        </p:nvCxnSpPr>
        <p:spPr>
          <a:xfrm>
            <a:off x="2075600" y="2789000"/>
            <a:ext cx="420000" cy="1"/>
          </a:xfrm>
          <a:prstGeom prst="line">
            <a:avLst/>
          </a:prstGeom>
          <a:ln w="22225" cap="rnd">
            <a:solidFill>
              <a:srgbClr val="1B3A4B"/>
            </a:solidFill>
            <a:tailEnd type="triangle"/>
          </a:ln>
        </p:spPr>
      </p:cxnSp>
      <p:sp>
        <p:nvSpPr>
          <p:cNvPr id="110" name="Arrow110"/>
          <p:cNvSpPr/>
          <p:nvPr/>
        </p:nvSpPr>
        <p:spPr>
          <a:xfrm>
            <a:off x="4825600" y="2689000"/>
            <a:ext cx="420000" cy="200000"/>
          </a:xfrm>
          <a:prstGeom prst="rightArrow">
            <a:avLst/>
          </a:prstGeom>
          <a:solidFill>
            <a:srgbClr val="90A4AE"/>
          </a:solidFill>
          <a:ln w="0"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6" name="TextBox126"/>
          <p:cNvSpPr txBox="1"/>
          <p:nvPr/>
        </p:nvSpPr>
        <p:spPr>
          <a:xfrm>
            <a:off x="4775600" y="2369000"/>
            <a:ext cx="520000" cy="3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>
              <a:buNone/>
            </a:pPr>
            <a:r>
              <a:rPr lang="it-IT" sz="1350" i="1" kern="0" spc="-10" dirty="0">
                <a:solidFill>
                  <a:srgbClr val="333333"/>
                </a:solidFill>
                <a:latin typeface="Calibri"/>
                <a:cs typeface="Calibri"/>
              </a:rPr>
              <a:t>u(t)</a:t>
            </a:r>
          </a:p>
        </p:txBody>
      </p:sp>
      <p:sp>
        <p:nvSpPr>
          <p:cNvPr id="102" name="Box102"/>
          <p:cNvSpPr/>
          <p:nvPr/>
        </p:nvSpPr>
        <p:spPr>
          <a:xfrm>
            <a:off x="5295600" y="2149000"/>
            <a:ext cx="2280000" cy="1280000"/>
          </a:xfrm>
          <a:prstGeom prst="roundRect">
            <a:avLst>
              <a:gd name="adj" fmla="val 12000"/>
            </a:avLst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txBody>
          <a:bodyPr lIns="72000" tIns="36000" rIns="72000" bIns="36000" anchor="ctr">
            <a:normAutofit/>
          </a:bodyPr>
          <a:lstStyle/>
          <a:p>
            <a:pPr algn="ctr"/>
            <a:r>
              <a:rPr lang="it-IT" sz="1750" b="1" dirty="0">
                <a:solidFill>
                  <a:srgbClr val="1F618D"/>
                </a:solidFill>
                <a:latin typeface="Calibri"/>
                <a:cs typeface="Calibri"/>
              </a:rPr>
              <a:t>Attuatore</a:t>
            </a:r>
          </a:p>
          <a:p>
            <a:pPr algn="ctr"/>
            <a:r>
              <a:rPr lang="it-IT" sz="1300" dirty="0">
                <a:solidFill>
                  <a:srgbClr val="333333"/>
                </a:solidFill>
                <a:latin typeface="Calibri"/>
                <a:cs typeface="Calibri"/>
              </a:rPr>
              <a:t>MOSFET driver</a:t>
            </a:r>
          </a:p>
          <a:p>
            <a:pPr algn="ctr"/>
            <a:r>
              <a:rPr lang="it-IT" sz="1200" dirty="0">
                <a:solidFill>
                  <a:srgbClr val="555555"/>
                </a:solidFill>
                <a:latin typeface="Calibri"/>
                <a:cs typeface="Calibri"/>
              </a:rPr>
              <a:t>Pompa 5V</a:t>
            </a:r>
          </a:p>
        </p:txBody>
      </p:sp>
      <p:sp>
        <p:nvSpPr>
          <p:cNvPr id="111" name="Arrow111"/>
          <p:cNvSpPr/>
          <p:nvPr/>
        </p:nvSpPr>
        <p:spPr>
          <a:xfrm>
            <a:off x="7625600" y="2689000"/>
            <a:ext cx="420000" cy="200000"/>
          </a:xfrm>
          <a:prstGeom prst="rightArrow">
            <a:avLst/>
          </a:prstGeom>
          <a:solidFill>
            <a:srgbClr val="90A4AE"/>
          </a:solidFill>
          <a:ln w="0"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7" name="TextBox127"/>
          <p:cNvSpPr txBox="1"/>
          <p:nvPr/>
        </p:nvSpPr>
        <p:spPr>
          <a:xfrm>
            <a:off x="7575600" y="2369000"/>
            <a:ext cx="520000" cy="3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>
              <a:buNone/>
            </a:pPr>
            <a:r>
              <a:rPr lang="it-IT" sz="1350" i="1" kern="0" spc="-10" dirty="0">
                <a:solidFill>
                  <a:srgbClr val="333333"/>
                </a:solidFill>
                <a:latin typeface="Calibri"/>
                <a:cs typeface="Calibri"/>
              </a:rPr>
              <a:t>v(t)</a:t>
            </a:r>
          </a:p>
        </p:txBody>
      </p:sp>
      <p:sp>
        <p:nvSpPr>
          <p:cNvPr id="103" name="Box103"/>
          <p:cNvSpPr/>
          <p:nvPr/>
        </p:nvSpPr>
        <p:spPr>
          <a:xfrm>
            <a:off x="8095600" y="2149000"/>
            <a:ext cx="2280000" cy="1280000"/>
          </a:xfrm>
          <a:prstGeom prst="roundRect">
            <a:avLst>
              <a:gd name="adj" fmla="val 12000"/>
            </a:avLst>
          </a:prstGeom>
          <a:solidFill>
            <a:srgbClr val="FADBD8"/>
          </a:solidFill>
          <a:ln w="19050">
            <a:solidFill>
              <a:srgbClr val="C0392B"/>
            </a:solidFill>
          </a:ln>
        </p:spPr>
        <p:txBody>
          <a:bodyPr lIns="72000" tIns="36000" rIns="72000" bIns="36000" anchor="ctr">
            <a:normAutofit/>
          </a:bodyPr>
          <a:lstStyle/>
          <a:p>
            <a:pPr algn="ctr"/>
            <a:r>
              <a:rPr lang="it-IT" sz="1750" b="1" dirty="0">
                <a:solidFill>
                  <a:srgbClr val="C0392B"/>
                </a:solidFill>
                <a:latin typeface="Calibri"/>
                <a:cs typeface="Calibri"/>
              </a:rPr>
              <a:t>Sistema</a:t>
            </a:r>
          </a:p>
          <a:p>
            <a:pPr algn="ctr"/>
            <a:r>
              <a:rPr lang="it-IT" sz="1300" dirty="0">
                <a:solidFill>
                  <a:srgbClr val="333333"/>
                </a:solidFill>
                <a:latin typeface="Calibri"/>
                <a:cs typeface="Calibri"/>
              </a:rPr>
              <a:t>Terreno</a:t>
            </a:r>
          </a:p>
          <a:p>
            <a:pPr algn="ctr"/>
            <a:r>
              <a:rPr lang="it-IT" sz="1200" dirty="0">
                <a:solidFill>
                  <a:srgbClr val="555555"/>
                </a:solidFill>
                <a:latin typeface="Calibri"/>
                <a:cs typeface="Calibri"/>
              </a:rPr>
              <a:t>dinamica idrica</a:t>
            </a:r>
          </a:p>
        </p:txBody>
      </p:sp>
      <p:sp>
        <p:nvSpPr>
          <p:cNvPr id="120" name="TextBox120"/>
          <p:cNvSpPr txBox="1"/>
          <p:nvPr/>
        </p:nvSpPr>
        <p:spPr>
          <a:xfrm>
            <a:off x="8685600" y="1470002"/>
            <a:ext cx="1100000" cy="34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buNone/>
            </a:pPr>
            <a:r>
              <a:rPr lang="it-IT" sz="1200" i="1" kern="0" spc="-10" dirty="0">
                <a:solidFill>
                  <a:srgbClr val="C0392B"/>
                </a:solidFill>
                <a:latin typeface="Calibri"/>
                <a:cs typeface="Calibri"/>
              </a:rPr>
              <a:t>d(t)  Evaporazione</a:t>
            </a:r>
          </a:p>
        </p:txBody>
      </p:sp>
      <p:cxnSp>
        <p:nvCxnSpPr>
          <p:cNvPr id="152" name="din"/>
          <p:cNvCxnSpPr/>
          <p:nvPr/>
        </p:nvCxnSpPr>
        <p:spPr>
          <a:xfrm>
            <a:off x="9235600" y="1909000"/>
            <a:ext cx="1" cy="240000"/>
          </a:xfrm>
          <a:prstGeom prst="line">
            <a:avLst/>
          </a:prstGeom>
          <a:ln w="22225" cap="rnd">
            <a:solidFill>
              <a:srgbClr val="C0392B"/>
            </a:solidFill>
            <a:tailEnd type="triangle"/>
          </a:ln>
        </p:spPr>
      </p:cxnSp>
      <p:cxnSp>
        <p:nvCxnSpPr>
          <p:cNvPr id="153" name="yout"/>
          <p:cNvCxnSpPr>
            <a:cxnSpLocks/>
          </p:cNvCxnSpPr>
          <p:nvPr/>
        </p:nvCxnSpPr>
        <p:spPr>
          <a:xfrm flipV="1">
            <a:off x="10375600" y="2788465"/>
            <a:ext cx="569999" cy="535"/>
          </a:xfrm>
          <a:prstGeom prst="line">
            <a:avLst/>
          </a:prstGeom>
          <a:ln w="22225">
            <a:solidFill>
              <a:srgbClr val="1B3A4B"/>
            </a:solidFill>
          </a:ln>
        </p:spPr>
      </p:cxnSp>
      <p:sp>
        <p:nvSpPr>
          <p:cNvPr id="128" name="TextBox128"/>
          <p:cNvSpPr txBox="1"/>
          <p:nvPr/>
        </p:nvSpPr>
        <p:spPr>
          <a:xfrm>
            <a:off x="10395599" y="2369000"/>
            <a:ext cx="569997" cy="32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buNone/>
            </a:pPr>
            <a:r>
              <a:rPr lang="it-IT" sz="1400" i="1" kern="0" spc="-10" dirty="0">
                <a:solidFill>
                  <a:srgbClr val="333333"/>
                </a:solidFill>
                <a:latin typeface="Calibri"/>
                <a:cs typeface="Calibri"/>
              </a:rPr>
              <a:t>y(t)</a:t>
            </a:r>
          </a:p>
        </p:txBody>
      </p:sp>
      <p:cxnSp>
        <p:nvCxnSpPr>
          <p:cNvPr id="154" name="fbdown"/>
          <p:cNvCxnSpPr/>
          <p:nvPr/>
        </p:nvCxnSpPr>
        <p:spPr>
          <a:xfrm>
            <a:off x="10945599" y="2788465"/>
            <a:ext cx="1" cy="2030000"/>
          </a:xfrm>
          <a:prstGeom prst="line">
            <a:avLst/>
          </a:prstGeom>
          <a:ln w="22225">
            <a:solidFill>
              <a:srgbClr val="1B3A4B"/>
            </a:solidFill>
          </a:ln>
        </p:spPr>
      </p:cxnSp>
      <p:sp>
        <p:nvSpPr>
          <p:cNvPr id="104" name="Box104"/>
          <p:cNvSpPr/>
          <p:nvPr/>
        </p:nvSpPr>
        <p:spPr>
          <a:xfrm>
            <a:off x="5135600" y="4329000"/>
            <a:ext cx="2600000" cy="980000"/>
          </a:xfrm>
          <a:prstGeom prst="roundRect">
            <a:avLst>
              <a:gd name="adj" fmla="val 12000"/>
            </a:avLst>
          </a:prstGeom>
          <a:solidFill>
            <a:srgbClr val="E8DAEF"/>
          </a:solidFill>
          <a:ln w="19050">
            <a:solidFill>
              <a:srgbClr val="7D3C98"/>
            </a:solidFill>
          </a:ln>
        </p:spPr>
        <p:txBody>
          <a:bodyPr lIns="72000" tIns="36000" rIns="72000" bIns="36000" anchor="ctr">
            <a:normAutofit/>
          </a:bodyPr>
          <a:lstStyle/>
          <a:p>
            <a:pPr algn="ctr"/>
            <a:r>
              <a:rPr lang="it-IT" sz="1750" b="1" dirty="0">
                <a:solidFill>
                  <a:srgbClr val="7D3C98"/>
                </a:solidFill>
                <a:latin typeface="Calibri"/>
                <a:cs typeface="Calibri"/>
              </a:rPr>
              <a:t>Sensore</a:t>
            </a:r>
          </a:p>
          <a:p>
            <a:pPr algn="ctr"/>
            <a:r>
              <a:rPr lang="it-IT" sz="1300" dirty="0">
                <a:solidFill>
                  <a:srgbClr val="333333"/>
                </a:solidFill>
                <a:latin typeface="Calibri"/>
                <a:cs typeface="Calibri"/>
              </a:rPr>
              <a:t>Capacitivo (Pin A0)</a:t>
            </a:r>
          </a:p>
        </p:txBody>
      </p:sp>
      <p:cxnSp>
        <p:nvCxnSpPr>
          <p:cNvPr id="155" name="fbtosens"/>
          <p:cNvCxnSpPr>
            <a:cxnSpLocks/>
          </p:cNvCxnSpPr>
          <p:nvPr/>
        </p:nvCxnSpPr>
        <p:spPr>
          <a:xfrm flipH="1">
            <a:off x="7735600" y="4819001"/>
            <a:ext cx="3209999" cy="0"/>
          </a:xfrm>
          <a:prstGeom prst="line">
            <a:avLst/>
          </a:prstGeom>
          <a:ln w="22225" cap="rnd">
            <a:solidFill>
              <a:srgbClr val="1B3A4B"/>
            </a:solidFill>
            <a:tailEnd type="triangle"/>
          </a:ln>
        </p:spPr>
      </p:cxnSp>
      <p:cxnSp>
        <p:nvCxnSpPr>
          <p:cNvPr id="156" name="mout"/>
          <p:cNvCxnSpPr/>
          <p:nvPr/>
        </p:nvCxnSpPr>
        <p:spPr>
          <a:xfrm>
            <a:off x="1795600" y="4819000"/>
            <a:ext cx="3340000" cy="1"/>
          </a:xfrm>
          <a:prstGeom prst="line">
            <a:avLst/>
          </a:prstGeom>
          <a:ln w="22225">
            <a:solidFill>
              <a:srgbClr val="1B3A4B"/>
            </a:solidFill>
          </a:ln>
        </p:spPr>
      </p:cxnSp>
      <p:cxnSp>
        <p:nvCxnSpPr>
          <p:cNvPr id="157" name="mup"/>
          <p:cNvCxnSpPr/>
          <p:nvPr/>
        </p:nvCxnSpPr>
        <p:spPr>
          <a:xfrm flipV="1">
            <a:off x="1795600" y="3069000"/>
            <a:ext cx="1" cy="1750000"/>
          </a:xfrm>
          <a:prstGeom prst="line">
            <a:avLst/>
          </a:prstGeom>
          <a:ln w="22225" cap="rnd">
            <a:solidFill>
              <a:srgbClr val="1B3A4B"/>
            </a:solidFill>
            <a:tailEnd type="triangle"/>
          </a:ln>
        </p:spPr>
      </p:cxnSp>
      <p:sp>
        <p:nvSpPr>
          <p:cNvPr id="123" name="TextBox123"/>
          <p:cNvSpPr txBox="1"/>
          <p:nvPr/>
        </p:nvSpPr>
        <p:spPr>
          <a:xfrm>
            <a:off x="1875600" y="4459000"/>
            <a:ext cx="800000" cy="3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it-IT" sz="1350" i="1" kern="0" spc="-10" dirty="0">
                <a:solidFill>
                  <a:srgbClr val="333333"/>
                </a:solidFill>
                <a:latin typeface="Calibri"/>
                <a:cs typeface="Calibri"/>
              </a:rPr>
              <a:t>m(t)</a:t>
            </a:r>
          </a:p>
        </p:txBody>
      </p:sp>
      <p:sp>
        <p:nvSpPr>
          <p:cNvPr id="140" name="TextBox140"/>
          <p:cNvSpPr txBox="1"/>
          <p:nvPr/>
        </p:nvSpPr>
        <p:spPr>
          <a:xfrm>
            <a:off x="875420" y="5730000"/>
            <a:ext cx="10441160" cy="5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>
              <a:buNone/>
            </a:pPr>
            <a:r>
              <a:rPr lang="it-IT" sz="1250" i="1" kern="0" spc="-10" dirty="0">
                <a:solidFill>
                  <a:srgbClr val="666666"/>
                </a:solidFill>
                <a:latin typeface="Calibri"/>
                <a:cs typeface="Calibri"/>
              </a:rPr>
              <a:t>r(t) setpoint (soglia 450 ADC)   ·   e(t) errore = aridità   ·   u(t) PWM 120-255   ·   v(t) portata pompa   ·   y(t) umidità suolo   ·   m(t) lettura ADC 0-1023   ·   d(t) disturbi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dirty="0"/>
              <a:t>Potenza e Gestione Energetica</a:t>
            </a:r>
          </a:p>
        </p:txBody>
      </p:sp>
      <p:sp>
        <p:nvSpPr>
          <p:cNvPr id="91" name="Marker"/>
          <p:cNvSpPr/>
          <p:nvPr/>
        </p:nvSpPr>
        <p:spPr>
          <a:xfrm>
            <a:off x="542335" y="1098612"/>
            <a:ext cx="90000" cy="257224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0" name="TextBox90"/>
          <p:cNvSpPr txBox="1"/>
          <p:nvPr/>
        </p:nvSpPr>
        <p:spPr>
          <a:xfrm>
            <a:off x="632335" y="1029792"/>
            <a:ext cx="10261160" cy="35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it-IT" sz="2000" b="1" kern="0" spc="-10" dirty="0">
                <a:solidFill>
                  <a:srgbClr val="E67E22"/>
                </a:solidFill>
                <a:latin typeface="Calibri"/>
                <a:cs typeface="Calibri"/>
              </a:rPr>
              <a:t>1 · Gestione ibrida</a:t>
            </a:r>
          </a:p>
        </p:txBody>
      </p:sp>
      <p:sp>
        <p:nvSpPr>
          <p:cNvPr id="40" name="Card40"/>
          <p:cNvSpPr/>
          <p:nvPr/>
        </p:nvSpPr>
        <p:spPr>
          <a:xfrm>
            <a:off x="542335" y="1527443"/>
            <a:ext cx="3820000" cy="4920852"/>
          </a:xfrm>
          <a:prstGeom prst="roundRect">
            <a:avLst>
              <a:gd name="adj" fmla="val 6000"/>
            </a:avLst>
          </a:prstGeom>
          <a:solidFill>
            <a:srgbClr val="FEF9F0"/>
          </a:solidFill>
          <a:ln w="15875">
            <a:solidFill>
              <a:srgbClr val="E67E22"/>
            </a:solidFill>
          </a:ln>
        </p:spPr>
        <p:txBody>
          <a:bodyPr wrap="square" lIns="108000" tIns="72000" rIns="108000" bIns="72000" rtlCol="0" anchor="ctr">
            <a:normAutofit fontScale="92500" lnSpcReduction="20000"/>
          </a:bodyPr>
          <a:lstStyle/>
          <a:p>
            <a:pPr algn="l">
              <a:buNone/>
            </a:pPr>
            <a:r>
              <a:rPr lang="it-IT" sz="2200" b="1" dirty="0">
                <a:solidFill>
                  <a:srgbClr val="E67E22"/>
                </a:solidFill>
                <a:latin typeface="Calibri"/>
                <a:cs typeface="Calibri"/>
              </a:rPr>
              <a:t>Due fonti, una sola linea di alimentazione</a:t>
            </a:r>
          </a:p>
          <a:p>
            <a:pPr algn="l">
              <a:buNone/>
            </a:pPr>
            <a:endParaRPr lang="it-IT" sz="600" dirty="0"/>
          </a:p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>Il sistema attinge da due sorgenti indipendenti che non interagiscono tra loro:</a:t>
            </a:r>
          </a:p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 xml:space="preserve">Ingresso solare: 2 pannelli 6V/3W in serie = 12V, collegati a TP5100 + BMS per caricare le due celle </a:t>
            </a:r>
            <a:r>
              <a:rPr lang="it-IT" sz="1800" kern="0" spc="-10">
                <a:latin typeface="Calibri"/>
                <a:cs typeface="Calibri"/>
              </a:rPr>
              <a:t>al litio.</a:t>
            </a:r>
            <a:endParaRPr lang="it-IT" sz="1800" kern="0" spc="-10" dirty="0">
              <a:latin typeface="Calibri"/>
              <a:cs typeface="Calibri"/>
            </a:endParaRPr>
          </a:p>
          <a:p>
            <a:pPr algn="l">
              <a:buNone/>
            </a:pPr>
            <a:endParaRPr lang="it-IT" sz="1800" kern="0" spc="-10" dirty="0">
              <a:latin typeface="Calibri"/>
              <a:cs typeface="Calibri"/>
            </a:endParaRPr>
          </a:p>
          <a:p>
            <a:r>
              <a:rPr lang="it-IT" sz="1800" kern="0" spc="-10" dirty="0">
                <a:latin typeface="Calibri"/>
                <a:cs typeface="Calibri"/>
              </a:rPr>
              <a:t>Alimentazione di emergenza: 4 stilo primarie AA (6V) collegate direttamente alla linea 5V tramite diodo 1N4007.</a:t>
            </a:r>
          </a:p>
          <a:p>
            <a:pPr algn="l">
              <a:buNone/>
            </a:pPr>
            <a:endParaRPr lang="it-IT" sz="1800" kern="0" spc="-10" dirty="0"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>Le due linee si escludono tramite due interruttori (SW1/SW2).</a:t>
            </a:r>
          </a:p>
          <a:p>
            <a:pPr algn="l">
              <a:buNone/>
            </a:pPr>
            <a:endParaRPr lang="it-IT" sz="1800" kern="0" spc="-10" dirty="0">
              <a:solidFill>
                <a:srgbClr val="555555"/>
              </a:solidFill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800" b="1" kern="0" spc="-10" dirty="0">
                <a:solidFill>
                  <a:srgbClr val="BA7517"/>
                </a:solidFill>
                <a:latin typeface="Calibri"/>
                <a:cs typeface="Calibri"/>
              </a:rPr>
              <a:t>Diodo Schottky 1N5822 (solare) + 1N4007 (backup) impediscono il ritorno di corrente.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62EC060-A72B-2007-FB8D-E3F859333A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5103" y="4448643"/>
            <a:ext cx="3198361" cy="2231375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3012E677-2CA7-0002-1C0E-F77CDDC2E9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974" r="843" b="8001"/>
          <a:stretch>
            <a:fillRect/>
          </a:stretch>
        </p:blipFill>
        <p:spPr>
          <a:xfrm>
            <a:off x="8634829" y="872716"/>
            <a:ext cx="2988332" cy="345679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41E1A107-DD5B-2DF7-09BF-CB1D703F2D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29" t="6145" r="30053" b="36870"/>
          <a:stretch>
            <a:fillRect/>
          </a:stretch>
        </p:blipFill>
        <p:spPr>
          <a:xfrm>
            <a:off x="4860400" y="927006"/>
            <a:ext cx="3276364" cy="4189662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2E513DF2-8C8E-E0BB-2D52-C79F94267F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" t="36286" r="6633" b="21320"/>
          <a:stretch>
            <a:fillRect/>
          </a:stretch>
        </p:blipFill>
        <p:spPr>
          <a:xfrm>
            <a:off x="4912839" y="3877984"/>
            <a:ext cx="3581119" cy="29072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dirty="0"/>
              <a:t>Potenza e Gestione Energetica</a:t>
            </a:r>
          </a:p>
        </p:txBody>
      </p:sp>
      <p:sp>
        <p:nvSpPr>
          <p:cNvPr id="91" name="Marker"/>
          <p:cNvSpPr/>
          <p:nvPr/>
        </p:nvSpPr>
        <p:spPr>
          <a:xfrm>
            <a:off x="492256" y="1114717"/>
            <a:ext cx="90000" cy="2800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0" name="TextBox90"/>
          <p:cNvSpPr txBox="1"/>
          <p:nvPr/>
        </p:nvSpPr>
        <p:spPr>
          <a:xfrm>
            <a:off x="624878" y="1064773"/>
            <a:ext cx="10261160" cy="35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it-IT" sz="2000" b="1" kern="0" spc="-10" dirty="0">
                <a:solidFill>
                  <a:srgbClr val="C0392B"/>
                </a:solidFill>
                <a:latin typeface="Calibri"/>
                <a:cs typeface="Calibri"/>
              </a:rPr>
              <a:t>2 · Gestione Ricarica e Controllo Batteria</a:t>
            </a:r>
          </a:p>
        </p:txBody>
      </p:sp>
      <p:sp>
        <p:nvSpPr>
          <p:cNvPr id="40" name="Card40"/>
          <p:cNvSpPr/>
          <p:nvPr/>
        </p:nvSpPr>
        <p:spPr>
          <a:xfrm>
            <a:off x="487566" y="1557512"/>
            <a:ext cx="5400100" cy="1440000"/>
          </a:xfrm>
          <a:prstGeom prst="roundRect">
            <a:avLst>
              <a:gd name="adj" fmla="val 6000"/>
            </a:avLst>
          </a:prstGeom>
          <a:solidFill>
            <a:srgbClr val="FFF5F5"/>
          </a:solidFill>
          <a:ln w="15875">
            <a:solidFill>
              <a:srgbClr val="C0392B"/>
            </a:solidFill>
          </a:ln>
        </p:spPr>
        <p:txBody>
          <a:bodyPr wrap="square" lIns="108000" tIns="72000" rIns="108000" bIns="72000" rtlCol="0" anchor="ctr">
            <a:normAutofit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C0392B"/>
                </a:solidFill>
                <a:latin typeface="Calibri"/>
                <a:cs typeface="Calibri"/>
              </a:rPr>
              <a:t>TP5100 — Modulo di Ricarica</a:t>
            </a:r>
          </a:p>
          <a:p>
            <a:pPr algn="l">
              <a:buNone/>
            </a:pPr>
            <a:endParaRPr lang="it-IT" sz="600" dirty="0"/>
          </a:p>
          <a:p>
            <a:pPr>
              <a:lnSpc>
                <a:spcPct val="80000"/>
              </a:lnSpc>
              <a:buNone/>
            </a:pPr>
            <a:r>
              <a:rPr lang="it-IT" sz="1800" kern="0" spc="-10" dirty="0">
                <a:latin typeface="Calibri"/>
                <a:cs typeface="Calibri"/>
              </a:rPr>
              <a:t>Ingresso 12V dai pannelli. Carica in due fasi (corrente e poi tensione costante).</a:t>
            </a:r>
          </a:p>
          <a:p>
            <a:pPr algn="l">
              <a:buNone/>
            </a:pPr>
            <a:r>
              <a:rPr lang="it-IT" sz="1800" b="1" kern="0" spc="-10" dirty="0">
                <a:solidFill>
                  <a:srgbClr val="922B21"/>
                </a:solidFill>
                <a:latin typeface="Calibri"/>
                <a:cs typeface="Calibri"/>
              </a:rPr>
              <a:t>Configurato per due celle in serie (max 8.4V).</a:t>
            </a:r>
          </a:p>
        </p:txBody>
      </p:sp>
      <p:sp>
        <p:nvSpPr>
          <p:cNvPr id="41" name="Card41"/>
          <p:cNvSpPr/>
          <p:nvPr/>
        </p:nvSpPr>
        <p:spPr>
          <a:xfrm>
            <a:off x="481546" y="3140251"/>
            <a:ext cx="5400100" cy="1300000"/>
          </a:xfrm>
          <a:prstGeom prst="roundRect">
            <a:avLst>
              <a:gd name="adj" fmla="val 6000"/>
            </a:avLst>
          </a:prstGeom>
          <a:solidFill>
            <a:srgbClr val="FFF5F5"/>
          </a:solidFill>
          <a:ln w="15875">
            <a:solidFill>
              <a:srgbClr val="8B0000"/>
            </a:solidFill>
          </a:ln>
        </p:spPr>
        <p:txBody>
          <a:bodyPr wrap="square" lIns="108000" tIns="72000" rIns="108000" bIns="72000" rtlCol="0" anchor="ctr">
            <a:normAutofit lnSpcReduction="10000"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8B0000"/>
                </a:solidFill>
                <a:latin typeface="Calibri"/>
                <a:cs typeface="Calibri"/>
              </a:rPr>
              <a:t>BMS — Guardiano Elettronico</a:t>
            </a:r>
          </a:p>
          <a:p>
            <a:pPr algn="l">
              <a:buNone/>
            </a:pPr>
            <a:endParaRPr lang="it-IT" sz="600" dirty="0"/>
          </a:p>
          <a:p>
            <a:pPr>
              <a:lnSpc>
                <a:spcPct val="90000"/>
              </a:lnSpc>
            </a:pPr>
            <a:r>
              <a:rPr lang="it-IT" sz="1800" kern="0" spc="-10" dirty="0">
                <a:latin typeface="Calibri"/>
                <a:cs typeface="Calibri"/>
              </a:rPr>
              <a:t>Sopra 8.4V o sotto 6.0V isola le celle. Corrente massima 3A.</a:t>
            </a:r>
          </a:p>
          <a:p>
            <a:pPr algn="l">
              <a:buNone/>
            </a:pPr>
            <a:r>
              <a:rPr lang="it-IT" sz="1800" b="1" kern="0" spc="-10" dirty="0">
                <a:solidFill>
                  <a:srgbClr val="922B21"/>
                </a:solidFill>
                <a:latin typeface="Calibri"/>
                <a:cs typeface="Calibri"/>
              </a:rPr>
              <a:t>Protezione fisica, indipendente dal software.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Card42"/>
              <p:cNvSpPr/>
              <p:nvPr/>
            </p:nvSpPr>
            <p:spPr>
              <a:xfrm>
                <a:off x="467802" y="4582990"/>
                <a:ext cx="5400100" cy="1872207"/>
              </a:xfrm>
              <a:prstGeom prst="roundRect">
                <a:avLst>
                  <a:gd name="adj" fmla="val 6000"/>
                </a:avLst>
              </a:prstGeom>
              <a:solidFill>
                <a:srgbClr val="FEF9F0"/>
              </a:solidFill>
              <a:ln w="15875">
                <a:solidFill>
                  <a:srgbClr val="E67E22"/>
                </a:solidFill>
              </a:ln>
            </p:spPr>
            <p:txBody>
              <a:bodyPr wrap="square" lIns="108000" tIns="72000" rIns="108000" bIns="72000" rtlCol="0" anchor="ctr">
                <a:normAutofit/>
              </a:bodyPr>
              <a:lstStyle/>
              <a:p>
                <a:pPr algn="l">
                  <a:buNone/>
                </a:pPr>
                <a:r>
                  <a:rPr lang="it-IT" sz="2000" b="1" dirty="0">
                    <a:solidFill>
                      <a:srgbClr val="E67E22"/>
                    </a:solidFill>
                    <a:latin typeface="Calibri"/>
                    <a:cs typeface="Calibri"/>
                  </a:rPr>
                  <a:t>Partitore di Tensione (pin A4)</a:t>
                </a:r>
              </a:p>
              <a:p>
                <a:pPr algn="l">
                  <a:buNone/>
                </a:pPr>
                <a:endParaRPr lang="it-IT" sz="600" dirty="0"/>
              </a:p>
              <a:p>
                <a:pPr>
                  <a:lnSpc>
                    <a:spcPct val="90000"/>
                  </a:lnSpc>
                  <a:buNone/>
                </a:pPr>
                <a:r>
                  <a:rPr lang="it-IT" sz="1800" kern="0" spc="-10" dirty="0">
                    <a:latin typeface="Calibri"/>
                    <a:cs typeface="Calibri"/>
                  </a:rPr>
                  <a:t>L'ADC di Arduino tollera massimo 5V.</a:t>
                </a:r>
              </a:p>
              <a:p>
                <a:pPr>
                  <a:lnSpc>
                    <a:spcPct val="90000"/>
                  </a:lnSpc>
                  <a:buNone/>
                </a:pPr>
                <a:r>
                  <a:rPr lang="it-IT" sz="1800" kern="0" spc="-10" dirty="0">
                    <a:latin typeface="Calibri"/>
                    <a:cs typeface="Calibri"/>
                  </a:rPr>
                  <a:t xml:space="preserve">Utilizzando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kern="0" spc="-10"/>
                        </m:ctrlPr>
                      </m:sSubPr>
                      <m:e>
                        <m:r>
                          <a:rPr lang="it-IT" sz="1800" kern="0" spc="-10"/>
                          <m:t>𝑅</m:t>
                        </m:r>
                      </m:e>
                      <m:sub>
                        <m:r>
                          <a:rPr lang="it-IT" sz="1800" kern="0" spc="-10"/>
                          <m:t>1</m:t>
                        </m:r>
                      </m:sub>
                    </m:sSub>
                    <m:r>
                      <a:rPr lang="it-IT" sz="1800" kern="0" spc="-10"/>
                      <m:t>=10</m:t>
                    </m:r>
                    <m:r>
                      <m:rPr>
                        <m:nor/>
                      </m:rPr>
                      <a:rPr lang="it-IT" sz="1800" kern="0" spc="-10">
                        <a:latin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it-IT" sz="1800" kern="0" spc="-10">
                        <a:latin typeface="Calibri"/>
                        <a:cs typeface="Calibri"/>
                      </a:rPr>
                      <m:t>k</m:t>
                    </m:r>
                    <m:r>
                      <m:rPr>
                        <m:sty m:val="p"/>
                      </m:rPr>
                      <a:rPr lang="it-IT" sz="1800" kern="0" spc="-10"/>
                      <m:t>Ω</m:t>
                    </m:r>
                  </m:oMath>
                </a14:m>
                <a:r>
                  <a:rPr lang="it-IT" sz="1800" kern="0" spc="-10" dirty="0">
                    <a:latin typeface="Calibri"/>
                    <a:cs typeface="Calibri"/>
                  </a:rPr>
                  <a:t xml:space="preserve"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kern="0" spc="-10"/>
                        </m:ctrlPr>
                      </m:sSubPr>
                      <m:e>
                        <m:r>
                          <a:rPr lang="it-IT" sz="1800" kern="0" spc="-10"/>
                          <m:t>𝑅</m:t>
                        </m:r>
                      </m:e>
                      <m:sub>
                        <m:r>
                          <a:rPr lang="it-IT" sz="1800" kern="0" spc="-10"/>
                          <m:t>2</m:t>
                        </m:r>
                      </m:sub>
                    </m:sSub>
                    <m:r>
                      <a:rPr lang="it-IT" sz="1800" kern="0" spc="-10"/>
                      <m:t>=4.7</m:t>
                    </m:r>
                    <m:r>
                      <m:rPr>
                        <m:nor/>
                      </m:rPr>
                      <a:rPr lang="it-IT" sz="1800" kern="0" spc="-10">
                        <a:latin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it-IT" sz="1800" kern="0" spc="-10">
                        <a:latin typeface="Calibri"/>
                        <a:cs typeface="Calibri"/>
                      </a:rPr>
                      <m:t>k</m:t>
                    </m:r>
                    <m:r>
                      <m:rPr>
                        <m:sty m:val="p"/>
                      </m:rPr>
                      <a:rPr lang="it-IT" sz="1800" kern="0" spc="-10"/>
                      <m:t>Ω</m:t>
                    </m:r>
                  </m:oMath>
                </a14:m>
                <a:r>
                  <a:rPr lang="it-IT" sz="1800" kern="0" spc="-10" dirty="0">
                    <a:latin typeface="Calibri"/>
                    <a:cs typeface="Calibri"/>
                  </a:rPr>
                  <a:t>, la tensione viene ridotta a circa 2.6V in sicurezza.</a:t>
                </a:r>
              </a:p>
              <a:p>
                <a:pPr>
                  <a:lnSpc>
                    <a:spcPct val="90000"/>
                  </a:lnSpc>
                  <a:buNone/>
                </a:pPr>
                <a:r>
                  <a:rPr lang="it-IT" sz="1900" b="1" kern="0" spc="-10" dirty="0">
                    <a:solidFill>
                      <a:srgbClr val="BA7517"/>
                    </a:solidFill>
                    <a:latin typeface="Calibri"/>
                    <a:cs typeface="Calibri"/>
                  </a:rPr>
                  <a:t>Se la carica scende sotto 6.4V, la pompa viene bloccata.</a:t>
                </a:r>
              </a:p>
            </p:txBody>
          </p:sp>
        </mc:Choice>
        <mc:Fallback>
          <p:sp>
            <p:nvSpPr>
              <p:cNvPr id="42" name="Card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02" y="4582990"/>
                <a:ext cx="5400100" cy="1872207"/>
              </a:xfrm>
              <a:prstGeom prst="roundRect">
                <a:avLst>
                  <a:gd name="adj" fmla="val 6000"/>
                </a:avLst>
              </a:prstGeom>
              <a:blipFill>
                <a:blip r:embed="rId2"/>
                <a:stretch>
                  <a:fillRect l="-225" b="-1935"/>
                </a:stretch>
              </a:blipFill>
              <a:ln w="15875">
                <a:solidFill>
                  <a:srgbClr val="E67E22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>
            <a:extLst>
              <a:ext uri="{FF2B5EF4-FFF2-40B4-BE49-F238E27FC236}">
                <a16:creationId xmlns:a16="http://schemas.microsoft.com/office/drawing/2014/main" id="{B077260C-1899-9955-C011-AB5B75313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337" y="866724"/>
            <a:ext cx="2359636" cy="301351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94BC75A3-72CE-7F49-8F97-9AB513EF3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644" y="866724"/>
            <a:ext cx="2260133" cy="30135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00" name="FormulaFrame"/>
              <p:cNvSpPr/>
              <p:nvPr/>
            </p:nvSpPr>
            <p:spPr>
              <a:xfrm>
                <a:off x="6304337" y="4010000"/>
                <a:ext cx="5012000" cy="2440000"/>
              </a:xfrm>
              <a:prstGeom prst="roundRect">
                <a:avLst>
                  <a:gd name="adj" fmla="val 5000"/>
                </a:avLst>
              </a:prstGeom>
              <a:solidFill>
                <a:srgbClr val="FEF9F0"/>
              </a:solidFill>
              <a:ln w="15875">
                <a:solidFill>
                  <a:srgbClr val="E67E22"/>
                </a:solidFill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3B158A82-6947-1A46-9C13-1775ABDED924}"/>
                  </a:ext>
                </a:extLst>
              </p:cNvPr>
              <p:cNvSpPr txBox="1"/>
              <p:nvPr/>
            </p:nvSpPr>
            <p:spPr>
              <a:xfrm>
                <a:off x="6444337" y="5240000"/>
                <a:ext cx="4732000" cy="116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800" kern="0" spc="-10" dirty="0">
                    <a:latin typeface="Calibri"/>
                    <a:cs typeface="Calibri"/>
                  </a:rPr>
                  <a:t>Formula Inversa (Software): Il microcontrollore ricalcola la tensione reale per gestire l'isteresi (blocco sotto 6.4V):</a:t>
                </a:r>
                <a14:m>
                  <m:oMath xmlns:m="http://schemas.openxmlformats.org/officeDocument/2006/math">
                    <m:r>
                      <a:rPr lang="it-IT" sz="1800" kern="0" spc="-10">
                        <a:latin typeface="Calibri"/>
                        <a:cs typeface="Calibri"/>
                      </a:rPr>
                      <m:t> </m:t>
                    </m:r>
                    <m:sSub>
                      <m:sSubPr>
                        <m:ctrlPr>
                          <a:rPr lang="it-IT" sz="1800" kern="0" spc="-10">
                            <a:latin typeface="Calibri"/>
                            <a:cs typeface="Calibri"/>
                          </a:rPr>
                        </m:ctrlPr>
                      </m:sSubPr>
                      <m:e>
                        <m:r>
                          <a:rPr lang="it-IT" sz="1800" kern="0" spc="-10">
                            <a:latin typeface="Calibri"/>
                            <a:cs typeface="Calibri"/>
                          </a:rPr>
                          <m:t>𝑉</m:t>
                        </m:r>
                      </m:e>
                      <m:sub>
                        <m:r>
                          <a:rPr lang="it-IT" sz="1800" kern="0" spc="-10">
                            <a:latin typeface="Calibri"/>
                            <a:cs typeface="Calibri"/>
                          </a:rPr>
                          <m:t>𝑏𝑎𝑡𝑡</m:t>
                        </m:r>
                      </m:sub>
                    </m:sSub>
                    <m:r>
                      <a:rPr lang="it-IT" sz="1800" kern="0" spc="-10">
                        <a:latin typeface="Calibri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it-IT" sz="1800" kern="0" spc="-10">
                            <a:latin typeface="Calibri"/>
                            <a:cs typeface="Calibri"/>
                          </a:rPr>
                        </m:ctrlPr>
                      </m:sSubPr>
                      <m:e>
                        <m:r>
                          <a:rPr lang="it-IT" sz="1800" kern="0" spc="-10">
                            <a:latin typeface="Calibri"/>
                            <a:cs typeface="Calibri"/>
                          </a:rPr>
                          <m:t>𝑉</m:t>
                        </m:r>
                      </m:e>
                      <m:sub>
                        <m:r>
                          <a:rPr lang="it-IT" sz="1800" kern="0" spc="-10">
                            <a:latin typeface="Calibri"/>
                            <a:cs typeface="Calibri"/>
                          </a:rPr>
                          <m:t>𝐴</m:t>
                        </m:r>
                        <m:r>
                          <a:rPr lang="it-IT" sz="1800" kern="0" spc="-10">
                            <a:latin typeface="Calibri"/>
                            <a:cs typeface="Calibri"/>
                          </a:rPr>
                          <m:t>4</m:t>
                        </m:r>
                      </m:sub>
                    </m:sSub>
                    <m:r>
                      <a:rPr lang="it-IT" sz="1800" kern="0" spc="-10">
                        <a:latin typeface="Calibri"/>
                        <a:cs typeface="Calibri"/>
                      </a:rPr>
                      <m:t>⋅</m:t>
                    </m:r>
                    <m:f>
                      <m:fPr>
                        <m:ctrlPr>
                          <a:rPr lang="it-IT" sz="1800" kern="0" spc="-10">
                            <a:latin typeface="Calibri"/>
                            <a:cs typeface="Calibr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kern="0" spc="-10">
                                <a:latin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it-IT" sz="1800" kern="0" spc="-10">
                                <a:latin typeface="Calibri"/>
                                <a:cs typeface="Calibri"/>
                              </a:rPr>
                              <m:t>𝑅</m:t>
                            </m:r>
                          </m:e>
                          <m:sub>
                            <m:r>
                              <a:rPr lang="it-IT" sz="1800" kern="0" spc="-10">
                                <a:latin typeface="Calibri"/>
                                <a:cs typeface="Calibri"/>
                              </a:rPr>
                              <m:t>1</m:t>
                            </m:r>
                          </m:sub>
                        </m:sSub>
                        <m:r>
                          <a:rPr lang="it-IT" sz="1800" kern="0" spc="-10">
                            <a:latin typeface="Calibri"/>
                            <a:cs typeface="Calibri"/>
                          </a:rPr>
                          <m:t>+</m:t>
                        </m:r>
                        <m:sSub>
                          <m:sSubPr>
                            <m:ctrlPr>
                              <a:rPr lang="it-IT" sz="1800" kern="0" spc="-10">
                                <a:latin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it-IT" sz="1800" kern="0" spc="-10">
                                <a:latin typeface="Calibri"/>
                                <a:cs typeface="Calibri"/>
                              </a:rPr>
                              <m:t>𝑅</m:t>
                            </m:r>
                          </m:e>
                          <m:sub>
                            <m:r>
                              <a:rPr lang="it-IT" sz="1800" kern="0" spc="-10">
                                <a:latin typeface="Calibri"/>
                                <a:cs typeface="Calibri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kern="0" spc="-10">
                                <a:latin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it-IT" sz="1800" kern="0" spc="-10">
                                <a:latin typeface="Calibri"/>
                                <a:cs typeface="Calibri"/>
                              </a:rPr>
                              <m:t>𝑅</m:t>
                            </m:r>
                          </m:e>
                          <m:sub>
                            <m:r>
                              <a:rPr lang="it-IT" sz="1800" kern="0" spc="-10">
                                <a:latin typeface="Calibri"/>
                                <a:cs typeface="Calibri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it-IT" sz="1800" kern="0" spc="-1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3B158A82-6947-1A46-9C13-1775ABDED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736" y="5218318"/>
                <a:ext cx="4716524" cy="1072473"/>
              </a:xfrm>
              <a:prstGeom prst="rect">
                <a:avLst/>
              </a:prstGeom>
              <a:blipFill>
                <a:blip r:embed="rId5"/>
                <a:stretch>
                  <a:fillRect l="-1034" t="-2841" b="-56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46A5B95-1B83-821C-F35F-8867A382A255}"/>
                  </a:ext>
                </a:extLst>
              </p:cNvPr>
              <p:cNvSpPr txBox="1"/>
              <p:nvPr/>
            </p:nvSpPr>
            <p:spPr>
              <a:xfrm>
                <a:off x="6444337" y="4150000"/>
                <a:ext cx="4732000" cy="105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800" kern="0" spc="-10" dirty="0">
                    <a:latin typeface="Calibri"/>
                    <a:cs typeface="Calibri"/>
                  </a:rPr>
                  <a:t xml:space="preserve">Formula Diretta (Hardware):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800" kern="0" spc="-10">
                              <a:latin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it-IT" sz="1800" kern="0" spc="-10">
                              <a:latin typeface="Calibri"/>
                              <a:cs typeface="Calibri"/>
                            </a:rPr>
                            <m:t>𝑉</m:t>
                          </m:r>
                        </m:e>
                        <m:sub>
                          <m:r>
                            <a:rPr lang="it-IT" sz="1800" kern="0" spc="-10">
                              <a:latin typeface="Calibri"/>
                              <a:cs typeface="Calibri"/>
                            </a:rPr>
                            <m:t>𝐴</m:t>
                          </m:r>
                          <m:r>
                            <a:rPr lang="it-IT" sz="1800" kern="0" spc="-10">
                              <a:latin typeface="Calibri"/>
                              <a:cs typeface="Calibri"/>
                            </a:rPr>
                            <m:t>4</m:t>
                          </m:r>
                        </m:sub>
                      </m:sSub>
                      <m:r>
                        <a:rPr lang="it-IT" sz="1800" kern="0" spc="-10">
                          <a:latin typeface="Calibri"/>
                          <a:cs typeface="Calibri"/>
                        </a:rPr>
                        <m:t>=</m:t>
                      </m:r>
                      <m:sSub>
                        <m:sSubPr>
                          <m:ctrlPr>
                            <a:rPr lang="it-IT" sz="1800" kern="0" spc="-10">
                              <a:latin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it-IT" sz="1800" kern="0" spc="-10">
                              <a:latin typeface="Calibri"/>
                              <a:cs typeface="Calibri"/>
                            </a:rPr>
                            <m:t>𝑉</m:t>
                          </m:r>
                        </m:e>
                        <m:sub>
                          <m:r>
                            <a:rPr lang="it-IT" sz="1800" kern="0" spc="-10">
                              <a:latin typeface="Calibri"/>
                              <a:cs typeface="Calibri"/>
                            </a:rPr>
                            <m:t>𝑏𝑎𝑡𝑡</m:t>
                          </m:r>
                        </m:sub>
                      </m:sSub>
                      <m:r>
                        <a:rPr lang="it-IT" sz="1800" kern="0" spc="-10">
                          <a:latin typeface="Calibri"/>
                          <a:cs typeface="Calibri"/>
                        </a:rPr>
                        <m:t>⋅</m:t>
                      </m:r>
                      <m:f>
                        <m:fPr>
                          <m:ctrlPr>
                            <a:rPr lang="it-IT" sz="1800" kern="0" spc="-10">
                              <a:latin typeface="Calibri"/>
                              <a:cs typeface="Calibri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1800" kern="0" spc="-10">
                                  <a:latin typeface="Calibri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it-IT" sz="1800" kern="0" spc="-10">
                                  <a:latin typeface="Calibri"/>
                                  <a:cs typeface="Calibri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t-IT" sz="1800" kern="0" spc="-10">
                                  <a:latin typeface="Calibri"/>
                                  <a:cs typeface="Calibri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1800" kern="0" spc="-10">
                                  <a:latin typeface="Calibri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it-IT" sz="1800" kern="0" spc="-10">
                                  <a:latin typeface="Calibri"/>
                                  <a:cs typeface="Calibri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t-IT" sz="1800" kern="0" spc="-10">
                                  <a:latin typeface="Calibri"/>
                                  <a:cs typeface="Calibri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sz="1800" kern="0" spc="-10">
                              <a:latin typeface="Calibri"/>
                              <a:cs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1800" kern="0" spc="-10">
                                  <a:latin typeface="Calibri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it-IT" sz="1800" kern="0" spc="-10">
                                  <a:latin typeface="Calibri"/>
                                  <a:cs typeface="Calibri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t-IT" sz="1800" kern="0" spc="-10">
                                  <a:latin typeface="Calibri"/>
                                  <a:cs typeface="Calibri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sz="1800" kern="0" spc="-1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46A5B95-1B83-821C-F35F-8867A382A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3959" y="4247293"/>
                <a:ext cx="4152079" cy="933204"/>
              </a:xfrm>
              <a:prstGeom prst="rect">
                <a:avLst/>
              </a:prstGeom>
              <a:blipFill>
                <a:blip r:embed="rId6"/>
                <a:stretch>
                  <a:fillRect l="-1322" t="-392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dirty="0"/>
              <a:t>Potenza e Gestione Energetica</a:t>
            </a:r>
          </a:p>
        </p:txBody>
      </p:sp>
      <p:sp>
        <p:nvSpPr>
          <p:cNvPr id="91" name="Marker"/>
          <p:cNvSpPr/>
          <p:nvPr/>
        </p:nvSpPr>
        <p:spPr>
          <a:xfrm>
            <a:off x="666626" y="1052736"/>
            <a:ext cx="90000" cy="28000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0" name="TextBox90"/>
          <p:cNvSpPr txBox="1"/>
          <p:nvPr/>
        </p:nvSpPr>
        <p:spPr>
          <a:xfrm>
            <a:off x="844940" y="1048085"/>
            <a:ext cx="10261160" cy="350000"/>
          </a:xfrm>
          <a:prstGeom prst="rect">
            <a:avLst/>
          </a:prstGeom>
          <a:noFill/>
        </p:spPr>
        <p:txBody>
          <a:bodyPr wrap="square" rtlCol="0" anchor="t">
            <a:normAutofit fontScale="92500" lnSpcReduction="20000"/>
          </a:bodyPr>
          <a:lstStyle/>
          <a:p>
            <a:pPr algn="l">
              <a:buNone/>
            </a:pPr>
            <a:r>
              <a:rPr lang="it-IT" sz="2000" b="1" kern="0" spc="-10" dirty="0">
                <a:solidFill>
                  <a:srgbClr val="E67E22"/>
                </a:solidFill>
                <a:latin typeface="Calibri"/>
                <a:cs typeface="Calibri"/>
              </a:rPr>
              <a:t>3 · Stabilizzazione a 5V — Buck XL4015</a:t>
            </a:r>
          </a:p>
        </p:txBody>
      </p:sp>
      <p:sp>
        <p:nvSpPr>
          <p:cNvPr id="40" name="Card40"/>
          <p:cNvSpPr/>
          <p:nvPr/>
        </p:nvSpPr>
        <p:spPr>
          <a:xfrm>
            <a:off x="660480" y="1575544"/>
            <a:ext cx="5100100" cy="4625763"/>
          </a:xfrm>
          <a:prstGeom prst="roundRect">
            <a:avLst>
              <a:gd name="adj" fmla="val 6000"/>
            </a:avLst>
          </a:prstGeom>
          <a:solidFill>
            <a:srgbClr val="FEF9F0"/>
          </a:solidFill>
          <a:ln w="15875">
            <a:solidFill>
              <a:srgbClr val="E67E22"/>
            </a:solidFill>
          </a:ln>
        </p:spPr>
        <p:txBody>
          <a:bodyPr wrap="square" lIns="108000" tIns="72000" rIns="108000" bIns="72000" rtlCol="0" anchor="ctr">
            <a:normAutofit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E67E22"/>
                </a:solidFill>
                <a:latin typeface="Calibri"/>
                <a:cs typeface="Calibri"/>
              </a:rPr>
              <a:t>Convertitore Step-Down XL4015</a:t>
            </a:r>
          </a:p>
          <a:p>
            <a:pPr algn="l">
              <a:buNone/>
            </a:pPr>
            <a:endParaRPr lang="it-IT" sz="600" dirty="0"/>
          </a:p>
          <a:p>
            <a:pPr>
              <a:lnSpc>
                <a:spcPct val="90000"/>
              </a:lnSpc>
            </a:pPr>
            <a:r>
              <a:rPr lang="it-IT" sz="1800" kern="0" spc="-10" dirty="0">
                <a:latin typeface="Calibri"/>
                <a:cs typeface="Calibri"/>
              </a:rPr>
              <a:t>L'energia non regolata (6.4-8.4V dalle batterie) entra nel convertitore buck XL4015.</a:t>
            </a:r>
          </a:p>
          <a:p>
            <a:pPr>
              <a:lnSpc>
                <a:spcPct val="90000"/>
              </a:lnSpc>
            </a:pPr>
            <a:endParaRPr lang="it-IT" sz="1800" kern="0" spc="-10" dirty="0">
              <a:latin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it-IT" sz="1800" kern="0" spc="-10" dirty="0">
                <a:latin typeface="Calibri"/>
                <a:cs typeface="Calibri"/>
              </a:rPr>
              <a:t>Step-down ad alta efficienza che stabilizza la tensione a 5V per:</a:t>
            </a:r>
          </a:p>
          <a:p>
            <a:pPr>
              <a:lnSpc>
                <a:spcPct val="90000"/>
              </a:lnSpc>
            </a:pPr>
            <a:r>
              <a:rPr lang="it-IT" sz="1800" kern="0" spc="-10" dirty="0">
                <a:latin typeface="Calibri"/>
                <a:cs typeface="Calibri"/>
              </a:rPr>
              <a:t>Sensori</a:t>
            </a:r>
          </a:p>
          <a:p>
            <a:pPr>
              <a:lnSpc>
                <a:spcPct val="90000"/>
              </a:lnSpc>
            </a:pPr>
            <a:r>
              <a:rPr lang="it-IT" sz="1800" kern="0" spc="-10" dirty="0">
                <a:latin typeface="Calibri"/>
                <a:cs typeface="Calibri"/>
              </a:rPr>
              <a:t>Controllore -&gt; Arduino Nano</a:t>
            </a:r>
          </a:p>
          <a:p>
            <a:pPr>
              <a:lnSpc>
                <a:spcPct val="90000"/>
              </a:lnSpc>
            </a:pPr>
            <a:r>
              <a:rPr lang="it-IT" sz="1800" kern="0" spc="-10" dirty="0">
                <a:latin typeface="Calibri"/>
                <a:cs typeface="Calibri"/>
              </a:rPr>
              <a:t>Attuatore -&gt; Pompa a immersione 5V</a:t>
            </a:r>
          </a:p>
          <a:p>
            <a:pPr>
              <a:lnSpc>
                <a:spcPct val="90000"/>
              </a:lnSpc>
            </a:pPr>
            <a:endParaRPr lang="it-IT" sz="1800" kern="0" spc="-10" dirty="0">
              <a:latin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it-IT" sz="1800" kern="0" spc="-10" dirty="0">
                <a:latin typeface="Calibri"/>
                <a:cs typeface="Calibri"/>
              </a:rPr>
              <a:t>Display integrato per il monitoraggio della tensione in tempo reale.</a:t>
            </a:r>
          </a:p>
          <a:p>
            <a:pPr algn="l">
              <a:buNone/>
            </a:pPr>
            <a:endParaRPr lang="it-IT" sz="1700" kern="0" spc="-10" dirty="0">
              <a:solidFill>
                <a:srgbClr val="555555"/>
              </a:solidFill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700" b="1" kern="0" spc="-10" dirty="0">
                <a:solidFill>
                  <a:srgbClr val="BA7517"/>
                </a:solidFill>
                <a:latin typeface="Calibri"/>
                <a:cs typeface="Calibri"/>
              </a:rPr>
              <a:t>Condensatore bypass 2200uF 25V in parallelo alla linea di alimentazione: protegge il sistema dallo spunto induttivo del motore.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8BC1ADF-A970-D9FE-C044-CC4B4C877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422" y="401683"/>
            <a:ext cx="4877223" cy="6102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dirty="0"/>
              <a:t>Blocco Sensori e Acquisizione Dati</a:t>
            </a:r>
          </a:p>
        </p:txBody>
      </p:sp>
      <p:sp>
        <p:nvSpPr>
          <p:cNvPr id="20" name="TextBox20"/>
          <p:cNvSpPr txBox="1"/>
          <p:nvPr/>
        </p:nvSpPr>
        <p:spPr>
          <a:xfrm>
            <a:off x="875420" y="1074645"/>
            <a:ext cx="10441160" cy="4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>
              <a:buNone/>
            </a:pPr>
            <a:r>
              <a:rPr lang="it-IT" sz="1800" kern="0" spc="-10" dirty="0">
                <a:solidFill>
                  <a:srgbClr val="333333"/>
                </a:solidFill>
                <a:latin typeface="Calibri"/>
                <a:cs typeface="Calibri"/>
              </a:rPr>
              <a:t>Il sistema percepisce l'ambiente tramite due sensori collegati agli ingressi analogici dell'Arduino:</a:t>
            </a:r>
          </a:p>
        </p:txBody>
      </p:sp>
      <p:sp>
        <p:nvSpPr>
          <p:cNvPr id="40" name="Card40"/>
          <p:cNvSpPr/>
          <p:nvPr/>
        </p:nvSpPr>
        <p:spPr>
          <a:xfrm>
            <a:off x="875420" y="1880828"/>
            <a:ext cx="2829520" cy="4290000"/>
          </a:xfrm>
          <a:prstGeom prst="roundRect">
            <a:avLst>
              <a:gd name="adj" fmla="val 6000"/>
            </a:avLst>
          </a:prstGeom>
          <a:solidFill>
            <a:srgbClr val="EBF5FB"/>
          </a:solidFill>
          <a:ln w="15875">
            <a:solidFill>
              <a:srgbClr val="1A5276"/>
            </a:solidFill>
          </a:ln>
        </p:spPr>
        <p:txBody>
          <a:bodyPr wrap="square" lIns="108000" tIns="72000" rIns="108000" bIns="72000" rtlCol="0" anchor="ctr">
            <a:normAutofit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1A5276"/>
                </a:solidFill>
                <a:latin typeface="Calibri"/>
                <a:cs typeface="Calibri"/>
              </a:rPr>
              <a:t>Umidita Suolo — pin A0</a:t>
            </a:r>
          </a:p>
          <a:p>
            <a:pPr algn="l">
              <a:buNone/>
            </a:pPr>
            <a:endParaRPr lang="it-IT" sz="600" dirty="0"/>
          </a:p>
          <a:p>
            <a:pPr algn="l">
              <a:buNone/>
            </a:pPr>
            <a:r>
              <a:rPr lang="it-IT" sz="1700" b="1" kern="0" spc="-10" dirty="0">
                <a:solidFill>
                  <a:srgbClr val="888888"/>
                </a:solidFill>
                <a:latin typeface="Calibri"/>
                <a:cs typeface="Calibri"/>
              </a:rPr>
              <a:t>Tipo: capacitivo</a:t>
            </a:r>
          </a:p>
          <a:p>
            <a:pPr algn="l">
              <a:buNone/>
            </a:pPr>
            <a:endParaRPr lang="it-IT" sz="1700" b="1" kern="0" spc="-10" dirty="0">
              <a:solidFill>
                <a:srgbClr val="888888"/>
              </a:solidFill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>Misura l’umidità del terreno.</a:t>
            </a:r>
          </a:p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>Immune all'elettrolisi: nessuna corrosione.</a:t>
            </a:r>
          </a:p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>Anni di funzionamento (contro le settimane di un sensore resistivo).</a:t>
            </a:r>
          </a:p>
          <a:p>
            <a:pPr algn="l">
              <a:buNone/>
            </a:pPr>
            <a:endParaRPr lang="it-IT" sz="1700" kern="0" spc="-10" dirty="0">
              <a:solidFill>
                <a:srgbClr val="555555"/>
              </a:solidFill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700" b="1" kern="0" spc="-10" dirty="0">
                <a:solidFill>
                  <a:srgbClr val="1A5276"/>
                </a:solidFill>
                <a:latin typeface="Calibri"/>
                <a:cs typeface="Calibri"/>
              </a:rPr>
              <a:t>Valori letti: 210 (bagnato) - 580 (secco).</a:t>
            </a:r>
          </a:p>
        </p:txBody>
      </p:sp>
      <p:sp>
        <p:nvSpPr>
          <p:cNvPr id="41" name="Card41"/>
          <p:cNvSpPr/>
          <p:nvPr/>
        </p:nvSpPr>
        <p:spPr>
          <a:xfrm>
            <a:off x="4007768" y="1880828"/>
            <a:ext cx="2829520" cy="4290000"/>
          </a:xfrm>
          <a:prstGeom prst="roundRect">
            <a:avLst>
              <a:gd name="adj" fmla="val 6000"/>
            </a:avLst>
          </a:prstGeom>
          <a:solidFill>
            <a:srgbClr val="D6EAF8"/>
          </a:solidFill>
          <a:ln w="15875">
            <a:solidFill>
              <a:srgbClr val="1F618D"/>
            </a:solidFill>
          </a:ln>
        </p:spPr>
        <p:txBody>
          <a:bodyPr wrap="square" lIns="108000" tIns="72000" rIns="108000" bIns="72000" rtlCol="0" anchor="ctr">
            <a:normAutofit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1F618D"/>
                </a:solidFill>
                <a:latin typeface="Calibri"/>
                <a:cs typeface="Calibri"/>
              </a:rPr>
              <a:t>Livello Acqua — pin A2</a:t>
            </a:r>
          </a:p>
          <a:p>
            <a:pPr algn="l">
              <a:buNone/>
            </a:pPr>
            <a:endParaRPr lang="it-IT" sz="600" dirty="0"/>
          </a:p>
          <a:p>
            <a:pPr algn="l">
              <a:buNone/>
            </a:pPr>
            <a:r>
              <a:rPr lang="it-IT" sz="1700" b="1" kern="0" spc="-10" dirty="0">
                <a:solidFill>
                  <a:srgbClr val="888888"/>
                </a:solidFill>
                <a:latin typeface="Calibri"/>
                <a:cs typeface="Calibri"/>
              </a:rPr>
              <a:t>Tipo: galleggiante</a:t>
            </a:r>
          </a:p>
          <a:p>
            <a:pPr algn="l">
              <a:buNone/>
            </a:pPr>
            <a:endParaRPr lang="it-IT" sz="1700" b="1" kern="0" spc="-10" dirty="0">
              <a:solidFill>
                <a:srgbClr val="888888"/>
              </a:solidFill>
              <a:latin typeface="Calibri"/>
              <a:cs typeface="Calibri"/>
            </a:endParaRPr>
          </a:p>
          <a:p>
            <a:r>
              <a:rPr lang="it-IT" sz="1800" kern="0" spc="-10" dirty="0">
                <a:latin typeface="Calibri"/>
                <a:cs typeface="Calibri"/>
              </a:rPr>
              <a:t>Interruttore che rileva la presenza d'acqua nel serbatoio.</a:t>
            </a:r>
          </a:p>
          <a:p>
            <a:r>
              <a:rPr lang="it-IT" sz="1800" kern="0" spc="-10" dirty="0">
                <a:latin typeface="Calibri"/>
                <a:cs typeface="Calibri"/>
              </a:rPr>
              <a:t>Soggetto alle micro-onde: il software richiede 3 secondi di segnale stabile prima di confermare.</a:t>
            </a:r>
          </a:p>
          <a:p>
            <a:pPr algn="l">
              <a:buNone/>
            </a:pPr>
            <a:endParaRPr lang="it-IT" sz="1700" kern="0" spc="-10" dirty="0">
              <a:solidFill>
                <a:srgbClr val="555555"/>
              </a:solidFill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700" b="1" kern="0" spc="-10" dirty="0">
                <a:solidFill>
                  <a:srgbClr val="1F618D"/>
                </a:solidFill>
                <a:latin typeface="Calibri"/>
                <a:cs typeface="Calibri"/>
              </a:rPr>
              <a:t>Se manca acqua, blocca la pompa (protezione dal funzionamento a secco).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C079C36-ACC9-E6DA-77FD-EB0CE733A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156" y="2096852"/>
            <a:ext cx="3564396" cy="35859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dirty="0"/>
              <a:t>Il Controllo Software</a:t>
            </a:r>
          </a:p>
        </p:txBody>
      </p:sp>
      <p:sp>
        <p:nvSpPr>
          <p:cNvPr id="99" name="TextBox99"/>
          <p:cNvSpPr txBox="1"/>
          <p:nvPr/>
        </p:nvSpPr>
        <p:spPr>
          <a:xfrm>
            <a:off x="875420" y="1246358"/>
            <a:ext cx="10441160" cy="38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>Due algoritmi lavorano insieme: uno modula la potenza in base all'aridità, l'altro protegge la batteria.</a:t>
            </a:r>
          </a:p>
        </p:txBody>
      </p:sp>
      <p:sp>
        <p:nvSpPr>
          <p:cNvPr id="40" name="Card40"/>
          <p:cNvSpPr/>
          <p:nvPr/>
        </p:nvSpPr>
        <p:spPr>
          <a:xfrm>
            <a:off x="875420" y="2000000"/>
            <a:ext cx="5070580" cy="4300000"/>
          </a:xfrm>
          <a:prstGeom prst="roundRect">
            <a:avLst>
              <a:gd name="adj" fmla="val 6000"/>
            </a:avLst>
          </a:prstGeom>
          <a:solidFill>
            <a:srgbClr val="E9F7EF"/>
          </a:solidFill>
          <a:ln w="15875">
            <a:solidFill>
              <a:srgbClr val="27AE60"/>
            </a:solidFill>
          </a:ln>
        </p:spPr>
        <p:txBody>
          <a:bodyPr wrap="square" lIns="108000" tIns="72000" rIns="108000" bIns="72000" rtlCol="0" anchor="ctr">
            <a:normAutofit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27AE60"/>
                </a:solidFill>
                <a:latin typeface="Calibri"/>
                <a:cs typeface="Calibri"/>
              </a:rPr>
              <a:t>1 · Controllo Proporzionale PWM</a:t>
            </a:r>
          </a:p>
          <a:p>
            <a:pPr algn="l">
              <a:buNone/>
            </a:pPr>
            <a:endParaRPr lang="it-IT" sz="600" dirty="0"/>
          </a:p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>La pompa non va al 100%: la potenza è proporzionale all'aridità del terreno.</a:t>
            </a:r>
          </a:p>
          <a:p>
            <a:pPr algn="l">
              <a:buNone/>
            </a:pPr>
            <a:endParaRPr lang="it-IT" sz="1800" kern="0" spc="-10" dirty="0"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>Il segnale PWM (pin D9) pilota il MOSFET. La funzione map() traduce l'aridità nell'intervallo [120, 255]:</a:t>
            </a:r>
          </a:p>
          <a:p>
            <a:pPr algn="l">
              <a:buNone/>
            </a:pPr>
            <a:endParaRPr lang="it-IT" sz="1700" kern="0" spc="-10" dirty="0"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700" b="1" kern="0" spc="-10" dirty="0">
                <a:solidFill>
                  <a:srgbClr val="1A7A4A"/>
                </a:solidFill>
                <a:latin typeface="Calibri"/>
                <a:cs typeface="Calibri"/>
              </a:rPr>
              <a:t>PWM 120 = spunto minimo di avvio</a:t>
            </a:r>
          </a:p>
          <a:p>
            <a:pPr algn="l">
              <a:buNone/>
            </a:pPr>
            <a:r>
              <a:rPr lang="it-IT" sz="1700" b="1" kern="0" spc="-10" dirty="0">
                <a:solidFill>
                  <a:srgbClr val="1A7A4A"/>
                </a:solidFill>
                <a:latin typeface="Calibri"/>
                <a:cs typeface="Calibri"/>
              </a:rPr>
              <a:t>PWM 255 = potenza massima (100%)</a:t>
            </a:r>
          </a:p>
          <a:p>
            <a:pPr algn="l">
              <a:buNone/>
            </a:pPr>
            <a:endParaRPr lang="it-IT" sz="1700" b="1" kern="0" spc="-10" dirty="0">
              <a:solidFill>
                <a:srgbClr val="1A7A4A"/>
              </a:solidFill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700" b="1" kern="0" spc="-10" dirty="0">
                <a:solidFill>
                  <a:srgbClr val="155724"/>
                </a:solidFill>
                <a:latin typeface="Calibri"/>
                <a:cs typeface="Calibri"/>
              </a:rPr>
              <a:t>map(aridita, 0, 1023, 120, 255)</a:t>
            </a:r>
          </a:p>
          <a:p>
            <a:pPr algn="l">
              <a:buNone/>
            </a:pPr>
            <a:endParaRPr lang="it-IT" sz="1700" b="1" kern="0" spc="-10" dirty="0">
              <a:solidFill>
                <a:srgbClr val="155724"/>
              </a:solidFill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>Vantaggio: nessun relè, controllo continuo.</a:t>
            </a:r>
          </a:p>
        </p:txBody>
      </p:sp>
      <p:sp>
        <p:nvSpPr>
          <p:cNvPr id="41" name="Card41"/>
          <p:cNvSpPr/>
          <p:nvPr/>
        </p:nvSpPr>
        <p:spPr>
          <a:xfrm>
            <a:off x="6246000" y="2000000"/>
            <a:ext cx="5070580" cy="4300000"/>
          </a:xfrm>
          <a:prstGeom prst="roundRect">
            <a:avLst>
              <a:gd name="adj" fmla="val 6000"/>
            </a:avLst>
          </a:prstGeom>
          <a:solidFill>
            <a:srgbClr val="FEF9F0"/>
          </a:solidFill>
          <a:ln w="15875">
            <a:solidFill>
              <a:srgbClr val="E67E22"/>
            </a:solidFill>
          </a:ln>
        </p:spPr>
        <p:txBody>
          <a:bodyPr wrap="square" lIns="108000" tIns="72000" rIns="108000" bIns="72000" rtlCol="0" anchor="ctr">
            <a:normAutofit lnSpcReduction="10000"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E67E22"/>
                </a:solidFill>
                <a:latin typeface="Calibri"/>
                <a:cs typeface="Calibri"/>
              </a:rPr>
              <a:t>2 · Isteresi Energetica</a:t>
            </a:r>
          </a:p>
          <a:p>
            <a:pPr algn="l">
              <a:buNone/>
            </a:pPr>
            <a:endParaRPr lang="it-IT" sz="600" dirty="0"/>
          </a:p>
          <a:p>
            <a:pPr>
              <a:buNone/>
            </a:pPr>
            <a:r>
              <a:rPr lang="it-IT" sz="1800" kern="0" spc="-10" dirty="0">
                <a:latin typeface="Calibri"/>
                <a:cs typeface="Calibri"/>
              </a:rPr>
              <a:t>Con batteria debole, la pompa fa crollare la tensione: con una soglia singola oscillerebbe ON/OFF (sfarfallio).</a:t>
            </a:r>
          </a:p>
          <a:p>
            <a:pPr>
              <a:buNone/>
            </a:pPr>
            <a:endParaRPr lang="it-IT" sz="1800" kern="0" spc="-10" dirty="0">
              <a:latin typeface="Calibri"/>
              <a:cs typeface="Calibri"/>
            </a:endParaRPr>
          </a:p>
          <a:p>
            <a:pPr>
              <a:buNone/>
            </a:pPr>
            <a:r>
              <a:rPr lang="it-IT" sz="1800" kern="0" spc="-10" dirty="0">
                <a:latin typeface="Calibri"/>
                <a:cs typeface="Calibri"/>
              </a:rPr>
              <a:t>Soluzione: aggiunta di una banda morta di 1V tra blocco e ripristino.</a:t>
            </a:r>
          </a:p>
          <a:p>
            <a:pPr algn="l">
              <a:buNone/>
            </a:pPr>
            <a:endParaRPr lang="it-IT" sz="1700" kern="0" spc="-10" dirty="0">
              <a:solidFill>
                <a:srgbClr val="555555"/>
              </a:solidFill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700" b="1" kern="0" spc="-10" dirty="0">
                <a:solidFill>
                  <a:srgbClr val="C0392B"/>
                </a:solidFill>
                <a:latin typeface="Calibri"/>
                <a:cs typeface="Calibri"/>
              </a:rPr>
              <a:t>&lt; 6.4V  -&gt;  BLOCCO CRITICO (pompa OFF)</a:t>
            </a:r>
          </a:p>
          <a:p>
            <a:pPr algn="l">
              <a:buNone/>
            </a:pPr>
            <a:r>
              <a:rPr lang="it-IT" sz="1700" b="1" kern="0" spc="-10" dirty="0">
                <a:solidFill>
                  <a:srgbClr val="1A7A4A"/>
                </a:solidFill>
                <a:latin typeface="Calibri"/>
                <a:cs typeface="Calibri"/>
              </a:rPr>
              <a:t>&gt; 7.4V  -&gt;  RIPRISTINO (pompa ON)</a:t>
            </a:r>
          </a:p>
          <a:p>
            <a:pPr algn="l">
              <a:buNone/>
            </a:pPr>
            <a:endParaRPr lang="it-IT" sz="1700" b="1" kern="0" spc="-10" dirty="0">
              <a:solidFill>
                <a:srgbClr val="1A7A4A"/>
              </a:solidFill>
              <a:latin typeface="Calibri"/>
              <a:cs typeface="Calibri"/>
            </a:endParaRPr>
          </a:p>
          <a:p>
            <a:r>
              <a:rPr lang="it-IT" sz="1800" kern="0" spc="-10" dirty="0">
                <a:latin typeface="Calibri"/>
                <a:cs typeface="Calibri"/>
              </a:rPr>
              <a:t>Il sistema non riparte finché il sole non ricarica le batterie da 6.4V a 7.4V.</a:t>
            </a:r>
          </a:p>
          <a:p>
            <a:pPr algn="l">
              <a:buNone/>
            </a:pPr>
            <a:endParaRPr lang="it-IT" sz="1700" kern="0" spc="-10" dirty="0">
              <a:solidFill>
                <a:srgbClr val="555555"/>
              </a:solidFill>
              <a:latin typeface="Calibri"/>
              <a:cs typeface="Calibri"/>
            </a:endParaRPr>
          </a:p>
          <a:p>
            <a:pPr algn="l">
              <a:buNone/>
            </a:pPr>
            <a:r>
              <a:rPr lang="it-IT" sz="1700" b="1" kern="0" spc="-10" dirty="0">
                <a:solidFill>
                  <a:srgbClr val="BA7517"/>
                </a:solidFill>
                <a:latin typeface="Calibri"/>
                <a:cs typeface="Calibri"/>
              </a:rPr>
              <a:t>Risultato: stabilità garantita, nessuna oscillazione.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dirty="0"/>
              <a:t>Blocchi di Sicurezza a Priorità</a:t>
            </a:r>
          </a:p>
        </p:txBody>
      </p:sp>
      <p:sp>
        <p:nvSpPr>
          <p:cNvPr id="20" name="TextBox20"/>
          <p:cNvSpPr txBox="1"/>
          <p:nvPr/>
        </p:nvSpPr>
        <p:spPr>
          <a:xfrm>
            <a:off x="875420" y="1132716"/>
            <a:ext cx="10441160" cy="4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>
              <a:buNone/>
            </a:pPr>
            <a:r>
              <a:rPr lang="it-IT" sz="1800" kern="0" spc="-10" dirty="0">
                <a:latin typeface="Calibri"/>
                <a:cs typeface="Calibri"/>
              </a:rPr>
              <a:t>Prima di scrivere il PWM finale, due blocchi di sicurezza a priorità massima possono azzerare la pompa:</a:t>
            </a:r>
          </a:p>
        </p:txBody>
      </p:sp>
      <p:sp>
        <p:nvSpPr>
          <p:cNvPr id="40" name="Card40"/>
          <p:cNvSpPr/>
          <p:nvPr/>
        </p:nvSpPr>
        <p:spPr>
          <a:xfrm>
            <a:off x="875420" y="2000000"/>
            <a:ext cx="5070580" cy="2060000"/>
          </a:xfrm>
          <a:prstGeom prst="roundRect">
            <a:avLst>
              <a:gd name="adj" fmla="val 6000"/>
            </a:avLst>
          </a:prstGeom>
          <a:solidFill>
            <a:srgbClr val="EBF5FB"/>
          </a:solidFill>
          <a:ln w="15875">
            <a:solidFill>
              <a:srgbClr val="1F618D"/>
            </a:solidFill>
          </a:ln>
        </p:spPr>
        <p:txBody>
          <a:bodyPr wrap="square" lIns="108000" tIns="72000" rIns="108000" bIns="72000" rtlCol="0" anchor="ctr">
            <a:normAutofit lnSpcReduction="10000"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1F618D"/>
                </a:solidFill>
                <a:latin typeface="Calibri"/>
                <a:cs typeface="Calibri"/>
              </a:rPr>
              <a:t>1 · Filtro Debounce (Serbatoio)</a:t>
            </a:r>
          </a:p>
          <a:p>
            <a:pPr algn="l">
              <a:buNone/>
            </a:pPr>
            <a:endParaRPr lang="it-IT" sz="600" dirty="0"/>
          </a:p>
          <a:p>
            <a:r>
              <a:rPr lang="it-IT" sz="1800" kern="0" spc="-10" dirty="0">
                <a:latin typeface="Calibri"/>
                <a:cs typeface="Calibri"/>
              </a:rPr>
              <a:t>Il galleggiante è meccanico e soggetto alle onde dell'acqua.</a:t>
            </a:r>
          </a:p>
          <a:p>
            <a:r>
              <a:rPr lang="it-IT" sz="1800" kern="0" spc="-10" dirty="0">
                <a:latin typeface="Calibri"/>
                <a:cs typeface="Calibri"/>
              </a:rPr>
              <a:t>Un filtro implementato nel codice richiede 3 secondi di segnale stabile prima di confermare 'serbatoio vuoto'.</a:t>
            </a:r>
          </a:p>
          <a:p>
            <a:pPr algn="l">
              <a:buNone/>
            </a:pPr>
            <a:r>
              <a:rPr lang="it-IT" sz="1700" b="1" kern="0" spc="-10" dirty="0">
                <a:solidFill>
                  <a:srgbClr val="1F618D"/>
                </a:solidFill>
                <a:latin typeface="Calibri"/>
                <a:cs typeface="Calibri"/>
              </a:rPr>
              <a:t>Se manca acqua -&gt; pwmOutput = 0.</a:t>
            </a:r>
          </a:p>
        </p:txBody>
      </p:sp>
      <p:sp>
        <p:nvSpPr>
          <p:cNvPr id="41" name="Card41"/>
          <p:cNvSpPr/>
          <p:nvPr/>
        </p:nvSpPr>
        <p:spPr>
          <a:xfrm>
            <a:off x="875420" y="4320000"/>
            <a:ext cx="5070580" cy="1980000"/>
          </a:xfrm>
          <a:prstGeom prst="roundRect">
            <a:avLst>
              <a:gd name="adj" fmla="val 6000"/>
            </a:avLst>
          </a:prstGeom>
          <a:solidFill>
            <a:srgbClr val="E9F7EF"/>
          </a:solidFill>
          <a:ln w="15875">
            <a:solidFill>
              <a:srgbClr val="1A7A4A"/>
            </a:solidFill>
          </a:ln>
        </p:spPr>
        <p:txBody>
          <a:bodyPr wrap="square" lIns="108000" tIns="72000" rIns="108000" bIns="72000" rtlCol="0" anchor="ctr">
            <a:normAutofit fontScale="92500" lnSpcReduction="20000"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1A7A4A"/>
                </a:solidFill>
                <a:latin typeface="Calibri"/>
                <a:cs typeface="Calibri"/>
              </a:rPr>
              <a:t>2 · Blocco Isteresi Batteria</a:t>
            </a:r>
          </a:p>
          <a:p>
            <a:pPr algn="l">
              <a:buNone/>
            </a:pPr>
            <a:endParaRPr lang="it-IT" sz="600" dirty="0"/>
          </a:p>
          <a:p>
            <a:pPr algn="l">
              <a:buNone/>
            </a:pPr>
            <a:r>
              <a:rPr lang="it-IT" sz="1900" kern="0" spc="-10" dirty="0">
                <a:latin typeface="Calibri"/>
                <a:cs typeface="Calibri"/>
              </a:rPr>
              <a:t>Se la tensione è sotto 6.4V (batteria scarica):</a:t>
            </a:r>
          </a:p>
          <a:p>
            <a:pPr algn="l">
              <a:buNone/>
            </a:pPr>
            <a:r>
              <a:rPr lang="it-IT" sz="1700" b="1" kern="0" spc="-10" dirty="0">
                <a:solidFill>
                  <a:srgbClr val="1A7A4A"/>
                </a:solidFill>
                <a:latin typeface="Calibri"/>
                <a:cs typeface="Calibri"/>
              </a:rPr>
              <a:t>-&gt; pwmOutput = 0.</a:t>
            </a:r>
          </a:p>
          <a:p>
            <a:pPr algn="l">
              <a:buNone/>
            </a:pPr>
            <a:endParaRPr lang="it-IT" sz="1700" b="1" kern="0" spc="-10" dirty="0">
              <a:solidFill>
                <a:srgbClr val="1A7A4A"/>
              </a:solidFill>
              <a:latin typeface="Calibri"/>
              <a:cs typeface="Calibri"/>
            </a:endParaRPr>
          </a:p>
          <a:p>
            <a:r>
              <a:rPr lang="it-IT" sz="1900" kern="0" spc="-10" dirty="0">
                <a:latin typeface="Calibri"/>
                <a:cs typeface="Calibri"/>
              </a:rPr>
              <a:t>Priorità massima: acqua mancante e batteria scarica prevalgono sulla richiesta di irrigazione.</a:t>
            </a:r>
          </a:p>
          <a:p>
            <a:r>
              <a:rPr lang="it-IT" sz="1900" kern="0" spc="-10" dirty="0">
                <a:latin typeface="Calibri"/>
                <a:cs typeface="Calibri"/>
              </a:rPr>
              <a:t>Protegge la pompa e le celle.</a:t>
            </a:r>
          </a:p>
        </p:txBody>
      </p:sp>
      <p:sp>
        <p:nvSpPr>
          <p:cNvPr id="80" name="Code80"/>
          <p:cNvSpPr/>
          <p:nvPr/>
        </p:nvSpPr>
        <p:spPr>
          <a:xfrm>
            <a:off x="6246000" y="2000000"/>
            <a:ext cx="5070580" cy="43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 w="0">
            <a:noFill/>
          </a:ln>
        </p:spPr>
        <p:txBody>
          <a:bodyPr wrap="square" lIns="108000" tIns="72000" rIns="72000" bIns="72000" rtlCol="0" anchor="t">
            <a:normAutofit/>
          </a:bodyPr>
          <a:lstStyle/>
          <a:p>
            <a:pPr algn="l">
              <a:buNone/>
            </a:pPr>
            <a:r>
              <a:rPr lang="it-IT" sz="1300" dirty="0">
                <a:solidFill>
                  <a:srgbClr val="6A9955"/>
                </a:solidFill>
                <a:latin typeface="Courier New"/>
                <a:cs typeface="Courier New"/>
              </a:rPr>
              <a:t>// Filtro debounce galleggiante</a:t>
            </a:r>
          </a:p>
          <a:p>
            <a:pPr algn="l">
              <a:buNone/>
            </a:pPr>
            <a:r>
              <a:rPr lang="it-IT" sz="1300" dirty="0">
                <a:solidFill>
                  <a:srgbClr val="569CD6"/>
                </a:solidFill>
                <a:latin typeface="Courier New"/>
                <a:cs typeface="Courier New"/>
              </a:rPr>
              <a:t>if (lettura != ultimaLettura)</a:t>
            </a:r>
          </a:p>
          <a:p>
            <a:pPr algn="l">
              <a:buNone/>
            </a:pPr>
            <a:r>
              <a:rPr lang="it-IT" sz="1300" dirty="0">
                <a:solidFill>
                  <a:srgbClr val="D4D4D4"/>
                </a:solidFill>
                <a:latin typeface="Courier New"/>
                <a:cs typeface="Courier New"/>
              </a:rPr>
              <a:t xml:space="preserve">  tempoUltimoCambio = millis();</a:t>
            </a:r>
          </a:p>
          <a:p>
            <a:pPr algn="l">
              <a:buNone/>
            </a:pPr>
            <a:endParaRPr lang="it-IT" sz="1150" dirty="0"/>
          </a:p>
          <a:p>
            <a:pPr algn="l">
              <a:buNone/>
            </a:pPr>
            <a:r>
              <a:rPr lang="it-IT" sz="1300" dirty="0">
                <a:solidFill>
                  <a:srgbClr val="569CD6"/>
                </a:solidFill>
                <a:latin typeface="Courier New"/>
                <a:cs typeface="Courier New"/>
              </a:rPr>
              <a:t>if ((millis()-tempoUltimoCambio)</a:t>
            </a:r>
          </a:p>
          <a:p>
            <a:pPr algn="l">
              <a:buNone/>
            </a:pPr>
            <a:r>
              <a:rPr lang="it-IT" sz="1300" dirty="0">
                <a:solidFill>
                  <a:srgbClr val="569CD6"/>
                </a:solidFill>
                <a:latin typeface="Courier New"/>
                <a:cs typeface="Courier New"/>
              </a:rPr>
              <a:t xml:space="preserve">     &gt; tempoFiltro)  // 3000 ms</a:t>
            </a:r>
          </a:p>
          <a:p>
            <a:pPr algn="l">
              <a:buNone/>
            </a:pPr>
            <a:r>
              <a:rPr lang="it-IT" sz="1300" dirty="0">
                <a:solidFill>
                  <a:srgbClr val="D4D4D4"/>
                </a:solidFill>
                <a:latin typeface="Courier New"/>
                <a:cs typeface="Courier New"/>
              </a:rPr>
              <a:t xml:space="preserve">  statoStabile = lettura;</a:t>
            </a:r>
          </a:p>
          <a:p>
            <a:pPr algn="l">
              <a:buNone/>
            </a:pPr>
            <a:endParaRPr lang="it-IT" sz="1150" dirty="0"/>
          </a:p>
          <a:p>
            <a:pPr algn="l">
              <a:buNone/>
            </a:pPr>
            <a:r>
              <a:rPr lang="it-IT" sz="1300" dirty="0">
                <a:solidFill>
                  <a:srgbClr val="6A9955"/>
                </a:solidFill>
                <a:latin typeface="Courier New"/>
                <a:cs typeface="Courier New"/>
              </a:rPr>
              <a:t>// Blocchi di sicurezza</a:t>
            </a:r>
          </a:p>
          <a:p>
            <a:pPr algn="l">
              <a:buNone/>
            </a:pPr>
            <a:r>
              <a:rPr lang="it-IT" sz="1300" dirty="0">
                <a:solidFill>
                  <a:srgbClr val="569CD6"/>
                </a:solidFill>
                <a:latin typeface="Courier New"/>
                <a:cs typeface="Courier New"/>
              </a:rPr>
              <a:t>if (statoStabile == HIGH)</a:t>
            </a:r>
          </a:p>
          <a:p>
            <a:pPr algn="l">
              <a:buNone/>
            </a:pPr>
            <a:r>
              <a:rPr lang="it-IT" sz="1300" dirty="0">
                <a:solidFill>
                  <a:srgbClr val="D4D4D4"/>
                </a:solidFill>
                <a:latin typeface="Courier New"/>
                <a:cs typeface="Courier New"/>
              </a:rPr>
              <a:t xml:space="preserve">  pwmOutput = 0; // no acqua</a:t>
            </a:r>
          </a:p>
          <a:p>
            <a:pPr algn="l">
              <a:buNone/>
            </a:pPr>
            <a:r>
              <a:rPr lang="it-IT" sz="1300" dirty="0">
                <a:solidFill>
                  <a:srgbClr val="569CD6"/>
                </a:solidFill>
                <a:latin typeface="Courier New"/>
                <a:cs typeface="Courier New"/>
              </a:rPr>
              <a:t>else if (pompaBloccata)</a:t>
            </a:r>
          </a:p>
          <a:p>
            <a:pPr algn="l">
              <a:buNone/>
            </a:pPr>
            <a:r>
              <a:rPr lang="it-IT" sz="1300" dirty="0">
                <a:solidFill>
                  <a:srgbClr val="D4D4D4"/>
                </a:solidFill>
                <a:latin typeface="Courier New"/>
                <a:cs typeface="Courier New"/>
              </a:rPr>
              <a:t xml:space="preserve">  pwmOutput = 0; // batteria</a:t>
            </a:r>
          </a:p>
          <a:p>
            <a:pPr algn="l">
              <a:buNone/>
            </a:pPr>
            <a:endParaRPr lang="it-IT" sz="1150" dirty="0"/>
          </a:p>
          <a:p>
            <a:pPr algn="l">
              <a:buNone/>
            </a:pPr>
            <a:r>
              <a:rPr lang="it-IT" sz="1300" dirty="0">
                <a:solidFill>
                  <a:srgbClr val="DCDCAA"/>
                </a:solidFill>
                <a:latin typeface="Courier New"/>
                <a:cs typeface="Courier New"/>
              </a:rPr>
              <a:t>analogWrite(pinDriver,</a:t>
            </a:r>
          </a:p>
          <a:p>
            <a:pPr algn="l">
              <a:buNone/>
            </a:pPr>
            <a:r>
              <a:rPr lang="it-IT" sz="1300" dirty="0">
                <a:solidFill>
                  <a:srgbClr val="9CDCFE"/>
                </a:solidFill>
                <a:latin typeface="Courier New"/>
                <a:cs typeface="Courier New"/>
              </a:rPr>
              <a:t xml:space="preserve">           pwmOutput);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dirty="0"/>
              <a:t>Ciclo di Esecuzione del software</a:t>
            </a:r>
          </a:p>
        </p:txBody>
      </p:sp>
      <p:sp>
        <p:nvSpPr>
          <p:cNvPr id="20" name="TextBox20"/>
          <p:cNvSpPr txBox="1"/>
          <p:nvPr/>
        </p:nvSpPr>
        <p:spPr>
          <a:xfrm>
            <a:off x="875420" y="1071000"/>
            <a:ext cx="10441160" cy="4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>
              <a:buNone/>
            </a:pPr>
            <a:r>
              <a:rPr lang="it-IT" sz="1800" kern="0" spc="-10" dirty="0">
                <a:latin typeface="Calibri"/>
                <a:cs typeface="Calibri"/>
              </a:rPr>
              <a:t>Il loop principale esegue ciclicamente cinque fasi in sequenza:</a:t>
            </a:r>
          </a:p>
        </p:txBody>
      </p:sp>
      <p:sp>
        <p:nvSpPr>
          <p:cNvPr id="200" name="Num0"/>
          <p:cNvSpPr/>
          <p:nvPr/>
        </p:nvSpPr>
        <p:spPr>
          <a:xfrm>
            <a:off x="875420" y="1860000"/>
            <a:ext cx="480000" cy="480000"/>
          </a:xfrm>
          <a:prstGeom prst="ellipse">
            <a:avLst/>
          </a:prstGeom>
          <a:solidFill>
            <a:srgbClr val="1B3A4B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it-IT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0" name="Card210"/>
          <p:cNvSpPr/>
          <p:nvPr/>
        </p:nvSpPr>
        <p:spPr>
          <a:xfrm>
            <a:off x="1535420" y="1760000"/>
            <a:ext cx="9781160" cy="680000"/>
          </a:xfrm>
          <a:prstGeom prst="roundRect">
            <a:avLst>
              <a:gd name="adj" fmla="val 6000"/>
            </a:avLst>
          </a:prstGeom>
          <a:solidFill>
            <a:srgbClr val="E8EEF1"/>
          </a:solidFill>
          <a:ln w="15875">
            <a:solidFill>
              <a:srgbClr val="1B3A4B"/>
            </a:solidFill>
          </a:ln>
        </p:spPr>
        <p:txBody>
          <a:bodyPr wrap="square" lIns="108000" tIns="72000" rIns="108000" bIns="72000" rtlCol="0" anchor="ctr">
            <a:normAutofit fontScale="92500" lnSpcReduction="10000"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1B3A4B"/>
                </a:solidFill>
                <a:latin typeface="Calibri"/>
                <a:cs typeface="Calibri"/>
              </a:rPr>
              <a:t>Lettura Sensori</a:t>
            </a:r>
          </a:p>
          <a:p>
            <a:pPr algn="l">
              <a:buNone/>
            </a:pPr>
            <a:endParaRPr lang="it-IT" sz="600" dirty="0"/>
          </a:p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>Acquisisce umidità (A0), tensione batteria (A4) e stato galleggiante (A2).</a:t>
            </a:r>
          </a:p>
        </p:txBody>
      </p:sp>
      <p:sp>
        <p:nvSpPr>
          <p:cNvPr id="201" name="Num1"/>
          <p:cNvSpPr/>
          <p:nvPr/>
        </p:nvSpPr>
        <p:spPr>
          <a:xfrm>
            <a:off x="875420" y="2670000"/>
            <a:ext cx="480000" cy="480000"/>
          </a:xfrm>
          <a:prstGeom prst="ellipse">
            <a:avLst/>
          </a:prstGeom>
          <a:solidFill>
            <a:srgbClr val="1A7A4A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it-IT" sz="1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1" name="Card211"/>
          <p:cNvSpPr/>
          <p:nvPr/>
        </p:nvSpPr>
        <p:spPr>
          <a:xfrm>
            <a:off x="1535420" y="2570000"/>
            <a:ext cx="9781160" cy="680000"/>
          </a:xfrm>
          <a:prstGeom prst="roundRect">
            <a:avLst>
              <a:gd name="adj" fmla="val 6000"/>
            </a:avLst>
          </a:prstGeom>
          <a:solidFill>
            <a:srgbClr val="E9F7EF"/>
          </a:solidFill>
          <a:ln w="15875">
            <a:solidFill>
              <a:srgbClr val="1A7A4A"/>
            </a:solidFill>
          </a:ln>
        </p:spPr>
        <p:txBody>
          <a:bodyPr wrap="square" lIns="108000" tIns="72000" rIns="108000" bIns="72000" rtlCol="0" anchor="ctr">
            <a:normAutofit fontScale="92500" lnSpcReduction="10000"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1A7A4A"/>
                </a:solidFill>
                <a:latin typeface="Calibri"/>
                <a:cs typeface="Calibri"/>
              </a:rPr>
              <a:t>Algoritmo Isteresi</a:t>
            </a:r>
          </a:p>
          <a:p>
            <a:pPr algn="l">
              <a:buNone/>
            </a:pPr>
            <a:endParaRPr lang="it-IT" sz="600" dirty="0"/>
          </a:p>
          <a:p>
            <a:r>
              <a:rPr lang="it-IT" sz="1800" kern="0" spc="-10" dirty="0">
                <a:latin typeface="Calibri"/>
                <a:cs typeface="Calibri"/>
              </a:rPr>
              <a:t>Aggiorna il flag di blocco batteria confrontando Vbatt con le soglie 6.4V / 7.4V.</a:t>
            </a:r>
          </a:p>
        </p:txBody>
      </p:sp>
      <p:sp>
        <p:nvSpPr>
          <p:cNvPr id="202" name="Num2"/>
          <p:cNvSpPr/>
          <p:nvPr/>
        </p:nvSpPr>
        <p:spPr>
          <a:xfrm>
            <a:off x="875420" y="3480000"/>
            <a:ext cx="480000" cy="480000"/>
          </a:xfrm>
          <a:prstGeom prst="ellipse">
            <a:avLst/>
          </a:prstGeom>
          <a:solidFill>
            <a:srgbClr val="1F618D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it-IT" sz="1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2" name="Card212"/>
          <p:cNvSpPr/>
          <p:nvPr/>
        </p:nvSpPr>
        <p:spPr>
          <a:xfrm>
            <a:off x="1535420" y="3380000"/>
            <a:ext cx="9781160" cy="680000"/>
          </a:xfrm>
          <a:prstGeom prst="roundRect">
            <a:avLst>
              <a:gd name="adj" fmla="val 6000"/>
            </a:avLst>
          </a:prstGeom>
          <a:solidFill>
            <a:srgbClr val="EBF5FB"/>
          </a:solidFill>
          <a:ln w="15875">
            <a:solidFill>
              <a:srgbClr val="1F618D"/>
            </a:solidFill>
          </a:ln>
        </p:spPr>
        <p:txBody>
          <a:bodyPr wrap="square" lIns="108000" tIns="72000" rIns="108000" bIns="72000" rtlCol="0" anchor="ctr">
            <a:normAutofit fontScale="92500" lnSpcReduction="10000"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1F618D"/>
                </a:solidFill>
                <a:latin typeface="Calibri"/>
                <a:cs typeface="Calibri"/>
              </a:rPr>
              <a:t>Filtro Debounce</a:t>
            </a:r>
          </a:p>
          <a:p>
            <a:pPr algn="l">
              <a:buNone/>
            </a:pPr>
            <a:endParaRPr lang="it-IT" sz="600" dirty="0"/>
          </a:p>
          <a:p>
            <a:pPr>
              <a:buNone/>
            </a:pPr>
            <a:r>
              <a:rPr lang="it-IT" sz="1800" kern="0" spc="-10" dirty="0">
                <a:latin typeface="Calibri"/>
                <a:cs typeface="Calibri"/>
              </a:rPr>
              <a:t>Conferma lo stato del serbatoio solo dopo 3s di lettura stabile.</a:t>
            </a:r>
          </a:p>
        </p:txBody>
      </p:sp>
      <p:sp>
        <p:nvSpPr>
          <p:cNvPr id="203" name="Num3"/>
          <p:cNvSpPr/>
          <p:nvPr/>
        </p:nvSpPr>
        <p:spPr>
          <a:xfrm>
            <a:off x="875420" y="4290000"/>
            <a:ext cx="480000" cy="48000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it-IT" sz="1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3" name="Card213"/>
          <p:cNvSpPr/>
          <p:nvPr/>
        </p:nvSpPr>
        <p:spPr>
          <a:xfrm>
            <a:off x="1535420" y="4190000"/>
            <a:ext cx="9781160" cy="680000"/>
          </a:xfrm>
          <a:prstGeom prst="roundRect">
            <a:avLst>
              <a:gd name="adj" fmla="val 6000"/>
            </a:avLst>
          </a:prstGeom>
          <a:solidFill>
            <a:srgbClr val="E9F7EF"/>
          </a:solidFill>
          <a:ln w="15875">
            <a:solidFill>
              <a:srgbClr val="27AE60"/>
            </a:solidFill>
          </a:ln>
        </p:spPr>
        <p:txBody>
          <a:bodyPr wrap="square" lIns="108000" tIns="72000" rIns="108000" bIns="72000" rtlCol="0" anchor="ctr">
            <a:normAutofit fontScale="92500" lnSpcReduction="10000"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27AE60"/>
                </a:solidFill>
                <a:latin typeface="Calibri"/>
                <a:cs typeface="Calibri"/>
              </a:rPr>
              <a:t>Logica Proporzionale</a:t>
            </a:r>
          </a:p>
          <a:p>
            <a:pPr algn="l">
              <a:buNone/>
            </a:pPr>
            <a:endParaRPr lang="it-IT" sz="600" dirty="0"/>
          </a:p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>Calcola il PWM con map() se il terreno supera la soglia di aridità.</a:t>
            </a:r>
          </a:p>
        </p:txBody>
      </p:sp>
      <p:sp>
        <p:nvSpPr>
          <p:cNvPr id="204" name="Num4"/>
          <p:cNvSpPr/>
          <p:nvPr/>
        </p:nvSpPr>
        <p:spPr>
          <a:xfrm>
            <a:off x="875420" y="5100000"/>
            <a:ext cx="480000" cy="480000"/>
          </a:xfrm>
          <a:prstGeom prst="ellipse">
            <a:avLst/>
          </a:prstGeom>
          <a:solidFill>
            <a:srgbClr val="E67E22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it-IT" sz="18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4" name="Card214"/>
          <p:cNvSpPr/>
          <p:nvPr/>
        </p:nvSpPr>
        <p:spPr>
          <a:xfrm>
            <a:off x="1535420" y="5000000"/>
            <a:ext cx="9781160" cy="6800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15875">
            <a:solidFill>
              <a:srgbClr val="E67E22"/>
            </a:solidFill>
          </a:ln>
        </p:spPr>
        <p:txBody>
          <a:bodyPr wrap="square" lIns="108000" tIns="72000" rIns="108000" bIns="72000" rtlCol="0" anchor="ctr">
            <a:normAutofit fontScale="92500" lnSpcReduction="10000"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E67E22"/>
                </a:solidFill>
                <a:latin typeface="Calibri"/>
                <a:cs typeface="Calibri"/>
              </a:rPr>
              <a:t>Attuazione</a:t>
            </a:r>
          </a:p>
          <a:p>
            <a:pPr algn="l">
              <a:buNone/>
            </a:pPr>
            <a:endParaRPr lang="it-IT" sz="600" dirty="0"/>
          </a:p>
          <a:p>
            <a:pPr algn="l">
              <a:buNone/>
            </a:pPr>
            <a:r>
              <a:rPr lang="it-IT" sz="1800" kern="0" spc="-10" dirty="0">
                <a:latin typeface="Calibri"/>
                <a:cs typeface="Calibri"/>
              </a:rPr>
              <a:t>Applica le prevenzioni necessarie e invia il segnale finale al MOSFET (analogWrite).</a:t>
            </a:r>
          </a:p>
        </p:txBody>
      </p:sp>
      <p:sp>
        <p:nvSpPr>
          <p:cNvPr id="600" name="GitHubLink"/>
          <p:cNvSpPr/>
          <p:nvPr/>
        </p:nvSpPr>
        <p:spPr>
          <a:xfrm>
            <a:off x="2496000" y="5800000"/>
            <a:ext cx="7200000" cy="520000"/>
          </a:xfrm>
          <a:prstGeom prst="roundRect">
            <a:avLst>
              <a:gd name="adj" fmla="val 20000"/>
            </a:avLst>
          </a:prstGeom>
          <a:solidFill>
            <a:srgbClr val="F0F3F5"/>
          </a:solidFill>
          <a:ln w="15875">
            <a:solidFill>
              <a:srgbClr val="1B3A4B"/>
            </a:solidFill>
          </a:ln>
        </p:spPr>
        <p:txBody>
          <a:bodyPr wrap="square" rtlCol="0" anchor="ctr" lIns="91440" tIns="27432" rIns="91440" bIns="27432">
            <a:normAutofit/>
          </a:bodyPr>
          <a:lstStyle/>
          <a:p>
            <a:pPr algn="ctr">
              <a:buNone/>
            </a:pPr>
            <a:r>
              <a:rPr lang="it-IT" sz="1500" b="1" dirty="0">
                <a:solidFill>
                  <a:srgbClr val="1B3A4B"/>
                </a:solidFill>
                <a:latin typeface="Calibri"/>
                <a:cs typeface="Calibri"/>
              </a:rPr>
              <a:t xml:space="preserve">Codice completo su GitHub: </a:t>
            </a:r>
            <a:r>
              <a:rPr lang="it-IT" sz="1500" b="0" dirty="0">
                <a:solidFill>
                  <a:srgbClr val="2980B9"/>
                </a:solidFill>
                <a:latin typeface="Calibri"/>
                <a:cs typeface="Calibri"/>
                <a:hlinkClick r:id="rId100"/>
              </a:rPr>
              <a:t>github.com/dkorn2004/Automatic_irrigation_system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dirty="0"/>
              <a:t>Conclusioni</a:t>
            </a:r>
          </a:p>
        </p:txBody>
      </p:sp>
      <p:sp>
        <p:nvSpPr>
          <p:cNvPr id="99" name="TextBox99"/>
          <p:cNvSpPr txBox="1"/>
          <p:nvPr/>
        </p:nvSpPr>
        <p:spPr>
          <a:xfrm>
            <a:off x="749406" y="950112"/>
            <a:ext cx="10693188" cy="34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buNone/>
            </a:pPr>
            <a:r>
              <a:rPr lang="it-IT" sz="1800" kern="0" spc="-10" dirty="0">
                <a:latin typeface="Calibri"/>
                <a:cs typeface="Calibri"/>
              </a:rPr>
              <a:t>Il progetto ha seguito un'evoluzione in più fasi, fino ad ottenere un sistema che raggiunge tutti gli obiettivi iniziali:</a:t>
            </a:r>
          </a:p>
        </p:txBody>
      </p:sp>
      <p:sp>
        <p:nvSpPr>
          <p:cNvPr id="230" name="Card230"/>
          <p:cNvSpPr/>
          <p:nvPr/>
        </p:nvSpPr>
        <p:spPr>
          <a:xfrm>
            <a:off x="669164" y="1490000"/>
            <a:ext cx="3021976" cy="1362936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15875">
            <a:solidFill>
              <a:srgbClr val="E67E22"/>
            </a:solidFill>
          </a:ln>
        </p:spPr>
        <p:txBody>
          <a:bodyPr wrap="square" lIns="108000" tIns="72000" rIns="108000" bIns="72000" rtlCol="0" anchor="t">
            <a:normAutofit lnSpcReduction="10000"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E67E22"/>
                </a:solidFill>
                <a:latin typeface="Calibri"/>
                <a:cs typeface="Calibri"/>
              </a:rPr>
              <a:t>Breadboard + Relè</a:t>
            </a:r>
          </a:p>
          <a:p>
            <a:pPr algn="l">
              <a:buNone/>
            </a:pPr>
            <a:endParaRPr lang="it-IT" sz="600" dirty="0"/>
          </a:p>
          <a:p>
            <a:pPr algn="l">
              <a:buNone/>
            </a:pPr>
            <a:r>
              <a:rPr lang="it-IT" sz="1700" kern="0" spc="-10" dirty="0">
                <a:latin typeface="Calibri"/>
                <a:cs typeface="Calibri"/>
              </a:rPr>
              <a:t>Prototipo su breadboard</a:t>
            </a:r>
          </a:p>
          <a:p>
            <a:pPr algn="l">
              <a:buNone/>
            </a:pPr>
            <a:r>
              <a:rPr lang="it-IT" sz="1700" kern="0" spc="-10" dirty="0">
                <a:latin typeface="Calibri"/>
                <a:cs typeface="Calibri"/>
              </a:rPr>
              <a:t>Rele meccanico ON/OFF</a:t>
            </a:r>
          </a:p>
          <a:p>
            <a:pPr algn="l">
              <a:buNone/>
            </a:pPr>
            <a:r>
              <a:rPr lang="it-IT" sz="1700" kern="0" spc="-10" dirty="0">
                <a:latin typeface="Calibri"/>
                <a:cs typeface="Calibri"/>
              </a:rPr>
              <a:t>Limiti: poca solidità e efficienza</a:t>
            </a:r>
          </a:p>
        </p:txBody>
      </p:sp>
      <p:sp>
        <p:nvSpPr>
          <p:cNvPr id="221" name="Arrow221"/>
          <p:cNvSpPr/>
          <p:nvPr/>
        </p:nvSpPr>
        <p:spPr>
          <a:xfrm>
            <a:off x="7849373" y="2061468"/>
            <a:ext cx="462812" cy="220000"/>
          </a:xfrm>
          <a:prstGeom prst="rightArrow">
            <a:avLst/>
          </a:prstGeom>
          <a:solidFill>
            <a:srgbClr val="B0BEC5"/>
          </a:solidFill>
          <a:ln w="0">
            <a:noFill/>
          </a:ln>
        </p:spPr>
        <p:txBody>
          <a:bodyPr/>
          <a:lstStyle/>
          <a:p>
            <a:endParaRPr lang="it-IT" dirty="0"/>
          </a:p>
        </p:txBody>
      </p:sp>
      <p:sp>
        <p:nvSpPr>
          <p:cNvPr id="231" name="Card231"/>
          <p:cNvSpPr/>
          <p:nvPr/>
        </p:nvSpPr>
        <p:spPr>
          <a:xfrm>
            <a:off x="4531302" y="1463911"/>
            <a:ext cx="3129396" cy="1362936"/>
          </a:xfrm>
          <a:prstGeom prst="roundRect">
            <a:avLst>
              <a:gd name="adj" fmla="val 6000"/>
            </a:avLst>
          </a:prstGeom>
          <a:solidFill>
            <a:srgbClr val="EBF5FB"/>
          </a:solidFill>
          <a:ln w="15875">
            <a:solidFill>
              <a:srgbClr val="2980B9"/>
            </a:solidFill>
          </a:ln>
        </p:spPr>
        <p:txBody>
          <a:bodyPr wrap="square" lIns="108000" tIns="72000" rIns="108000" bIns="72000" rtlCol="0" anchor="t">
            <a:normAutofit lnSpcReduction="10000"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2980B9"/>
                </a:solidFill>
                <a:latin typeface="Calibri"/>
                <a:cs typeface="Calibri"/>
              </a:rPr>
              <a:t>MOSFET + PWM + SOLARE</a:t>
            </a:r>
          </a:p>
          <a:p>
            <a:pPr algn="l">
              <a:buNone/>
            </a:pPr>
            <a:endParaRPr lang="it-IT" sz="600" dirty="0"/>
          </a:p>
          <a:p>
            <a:r>
              <a:rPr lang="it-IT" sz="1700" kern="0" spc="-10" dirty="0">
                <a:latin typeface="Calibri"/>
                <a:cs typeface="Calibri"/>
              </a:rPr>
              <a:t>Relè sostituito dal MOSFET</a:t>
            </a:r>
          </a:p>
          <a:p>
            <a:r>
              <a:rPr lang="it-IT" sz="1700" kern="0" spc="-10" dirty="0">
                <a:latin typeface="Calibri"/>
                <a:cs typeface="Calibri"/>
              </a:rPr>
              <a:t>Controllo PWM proporzionale</a:t>
            </a:r>
          </a:p>
          <a:p>
            <a:r>
              <a:rPr lang="it-IT" sz="1700" kern="0" spc="-10" dirty="0">
                <a:latin typeface="Calibri"/>
                <a:cs typeface="Calibri"/>
              </a:rPr>
              <a:t>Integrazione con energia solare</a:t>
            </a:r>
          </a:p>
          <a:p>
            <a:pPr algn="l">
              <a:buNone/>
            </a:pPr>
            <a:endParaRPr lang="it-IT" sz="1700" kern="0" spc="-10" dirty="0">
              <a:solidFill>
                <a:srgbClr val="555555"/>
              </a:solidFill>
              <a:latin typeface="Calibri"/>
              <a:cs typeface="Calibri"/>
            </a:endParaRPr>
          </a:p>
        </p:txBody>
      </p:sp>
      <p:sp>
        <p:nvSpPr>
          <p:cNvPr id="232" name="Card232"/>
          <p:cNvSpPr/>
          <p:nvPr/>
        </p:nvSpPr>
        <p:spPr>
          <a:xfrm>
            <a:off x="8500860" y="1461765"/>
            <a:ext cx="2563692" cy="1362936"/>
          </a:xfrm>
          <a:prstGeom prst="roundRect">
            <a:avLst>
              <a:gd name="adj" fmla="val 6000"/>
            </a:avLst>
          </a:prstGeom>
          <a:solidFill>
            <a:srgbClr val="E9F7EF"/>
          </a:solidFill>
          <a:ln w="15875">
            <a:solidFill>
              <a:srgbClr val="27AE60"/>
            </a:solidFill>
          </a:ln>
        </p:spPr>
        <p:txBody>
          <a:bodyPr wrap="square" lIns="108000" tIns="72000" rIns="108000" bIns="72000" rtlCol="0" anchor="t">
            <a:normAutofit lnSpcReduction="10000"/>
          </a:bodyPr>
          <a:lstStyle/>
          <a:p>
            <a:pPr algn="l">
              <a:buNone/>
            </a:pPr>
            <a:r>
              <a:rPr lang="it-IT" sz="2000" b="1" dirty="0">
                <a:solidFill>
                  <a:srgbClr val="27AE60"/>
                </a:solidFill>
                <a:latin typeface="Calibri"/>
                <a:cs typeface="Calibri"/>
              </a:rPr>
              <a:t>Solare + BMS</a:t>
            </a:r>
          </a:p>
          <a:p>
            <a:pPr algn="l">
              <a:buNone/>
            </a:pPr>
            <a:endParaRPr lang="it-IT" sz="600" dirty="0"/>
          </a:p>
          <a:p>
            <a:pPr algn="l">
              <a:buNone/>
            </a:pPr>
            <a:r>
              <a:rPr lang="it-IT" sz="1700" kern="0" spc="-10" dirty="0">
                <a:latin typeface="Calibri"/>
                <a:cs typeface="Calibri"/>
              </a:rPr>
              <a:t>Ricarica celle 18650</a:t>
            </a:r>
          </a:p>
          <a:p>
            <a:pPr algn="l">
              <a:buNone/>
            </a:pPr>
            <a:r>
              <a:rPr lang="it-IT" sz="1700" kern="0" spc="-10" dirty="0">
                <a:latin typeface="Calibri"/>
                <a:cs typeface="Calibri"/>
              </a:rPr>
              <a:t>TP5100 + BMS 2S</a:t>
            </a:r>
          </a:p>
          <a:p>
            <a:pPr algn="l">
              <a:buNone/>
            </a:pPr>
            <a:r>
              <a:rPr lang="it-IT" sz="1700" kern="0" spc="-10" dirty="0">
                <a:latin typeface="Calibri"/>
                <a:cs typeface="Calibri"/>
              </a:rPr>
              <a:t>Saldatura su millefori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C3ED9588-5F9D-DD98-4264-D4CACB7489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66" r="11134"/>
          <a:stretch>
            <a:fillRect/>
          </a:stretch>
        </p:blipFill>
        <p:spPr>
          <a:xfrm rot="5400000">
            <a:off x="-267620" y="3406093"/>
            <a:ext cx="3663003" cy="2750919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FA5FDE4-F54F-B65C-79AC-7103649E8B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060" y="2910194"/>
            <a:ext cx="2117977" cy="3765292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734BE17A-AC81-66FB-A53B-8816A67E6C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61" r="11733" b="31668"/>
          <a:stretch>
            <a:fillRect/>
          </a:stretch>
        </p:blipFill>
        <p:spPr>
          <a:xfrm>
            <a:off x="9588388" y="3378029"/>
            <a:ext cx="2490536" cy="2797515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E1C7125A-B30F-D87E-A9B4-50C749366F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1" r="20034" b="3716"/>
          <a:stretch>
            <a:fillRect/>
          </a:stretch>
        </p:blipFill>
        <p:spPr>
          <a:xfrm>
            <a:off x="5104755" y="2861946"/>
            <a:ext cx="2744617" cy="2184121"/>
          </a:xfrm>
          <a:prstGeom prst="rect">
            <a:avLst/>
          </a:prstGeom>
        </p:spPr>
      </p:pic>
      <p:sp>
        <p:nvSpPr>
          <p:cNvPr id="5" name="Arrow221">
            <a:extLst>
              <a:ext uri="{FF2B5EF4-FFF2-40B4-BE49-F238E27FC236}">
                <a16:creationId xmlns:a16="http://schemas.microsoft.com/office/drawing/2014/main" id="{B987EC51-FF9D-3130-E5F2-870003138DDB}"/>
              </a:ext>
            </a:extLst>
          </p:cNvPr>
          <p:cNvSpPr/>
          <p:nvPr/>
        </p:nvSpPr>
        <p:spPr>
          <a:xfrm>
            <a:off x="3879815" y="2061468"/>
            <a:ext cx="462812" cy="220000"/>
          </a:xfrm>
          <a:prstGeom prst="rightArrow">
            <a:avLst/>
          </a:prstGeom>
          <a:solidFill>
            <a:srgbClr val="B0BEC5"/>
          </a:solidFill>
          <a:ln w="0">
            <a:noFill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7849D6E2-78C7-7473-E73F-B40B60BD173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8" r="31218"/>
          <a:stretch>
            <a:fillRect/>
          </a:stretch>
        </p:blipFill>
        <p:spPr>
          <a:xfrm rot="5400000">
            <a:off x="6341717" y="4499102"/>
            <a:ext cx="2209948" cy="2383277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B2C29479-450F-1630-A78D-0E9AAED2C6E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9736" r="39507"/>
          <a:stretch>
            <a:fillRect/>
          </a:stretch>
        </p:blipFill>
        <p:spPr>
          <a:xfrm rot="5400000">
            <a:off x="7945267" y="2966742"/>
            <a:ext cx="1708325" cy="19117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i Office">
      <a:majorFont>
        <a:latin typeface="Times New Roman"/>
        <a:ea typeface=""/>
        <a:cs typeface="Lucida Sans Unicode"/>
      </a:majorFont>
      <a:minorFont>
        <a:latin typeface="Times New Roman"/>
        <a:ea typeface="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2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  <a:cs typeface="Lucida Sans Unicod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2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  <a:cs typeface="Lucida Sans Unicode" charset="0"/>
          </a:defRPr>
        </a:defPPr>
      </a:lstStyle>
    </a:lnDef>
  </a:objectDefaults>
  <a:extraClrSchemeLst>
    <a:extraClrScheme>
      <a:clrScheme name="Tema di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22832</TotalTime>
  <Words>1471</Words>
  <Application>Microsoft Office PowerPoint</Application>
  <PresentationFormat>Widescreen</PresentationFormat>
  <Paragraphs>231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7" baseType="lpstr">
      <vt:lpstr>Calibri</vt:lpstr>
      <vt:lpstr>Courier New</vt:lpstr>
      <vt:lpstr>Tahoma</vt:lpstr>
      <vt:lpstr>Times New Roman</vt:lpstr>
      <vt:lpstr>Tema di Office</vt:lpstr>
      <vt:lpstr>Presentazione standard di PowerPoint</vt:lpstr>
      <vt:lpstr>Obiettivi del Progetto</vt:lpstr>
      <vt:lpstr>Il Problema del Controllo</vt:lpstr>
      <vt:lpstr>Schema di Controllo — Anello Chiuso</vt:lpstr>
      <vt:lpstr>Potenza e Gestione Energetica</vt:lpstr>
      <vt:lpstr>Potenza e Gestione Energetica</vt:lpstr>
      <vt:lpstr>Potenza e Gestione Energetica</vt:lpstr>
      <vt:lpstr>Blocco Sensori e Acquisizione Dati</vt:lpstr>
      <vt:lpstr>Il Controllo Software</vt:lpstr>
      <vt:lpstr>Blocchi di Sicurezza a Priorità</vt:lpstr>
      <vt:lpstr>Ciclo di Esecuzione del software</vt:lpstr>
      <vt:lpstr>Conclusioni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Tesi di laurea magistrale</dc:title>
  <dc:creator>Lembo Ludovica</dc:creator>
  <cp:lastModifiedBy>Davide Cornaglia</cp:lastModifiedBy>
  <cp:revision>1780</cp:revision>
  <cp:lastPrinted>2020-05-14T15:18:51Z</cp:lastPrinted>
  <dcterms:created xsi:type="dcterms:W3CDTF">1995-06-17T23:31:02Z</dcterms:created>
  <dcterms:modified xsi:type="dcterms:W3CDTF">2026-07-04T16:22:17Z</dcterms:modified>
</cp:coreProperties>
</file>